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Anton" pitchFamily="2" charset="77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itchFamily="2" charset="0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589" autoAdjust="0"/>
  </p:normalViewPr>
  <p:slideViewPr>
    <p:cSldViewPr>
      <p:cViewPr varScale="1">
        <p:scale>
          <a:sx n="80" d="100"/>
          <a:sy n="80" d="100"/>
        </p:scale>
        <p:origin x="82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2.svg"/><Relationship Id="rId7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2.svg"/><Relationship Id="rId7" Type="http://schemas.openxmlformats.org/officeDocument/2006/relationships/image" Target="../media/image1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2.svg"/><Relationship Id="rId7" Type="http://schemas.openxmlformats.org/officeDocument/2006/relationships/image" Target="../media/image1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2.sv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2.svg"/><Relationship Id="rId7" Type="http://schemas.openxmlformats.org/officeDocument/2006/relationships/image" Target="../media/image2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16078" y="0"/>
            <a:ext cx="22321843" cy="13488479"/>
            <a:chOff x="0" y="0"/>
            <a:chExt cx="29762457" cy="17984639"/>
          </a:xfrm>
        </p:grpSpPr>
        <p:grpSp>
          <p:nvGrpSpPr>
            <p:cNvPr id="3" name="Group 3"/>
            <p:cNvGrpSpPr/>
            <p:nvPr/>
          </p:nvGrpSpPr>
          <p:grpSpPr>
            <a:xfrm>
              <a:off x="2821437" y="0"/>
              <a:ext cx="1371600" cy="1371600"/>
              <a:chOff x="0" y="0"/>
              <a:chExt cx="270933" cy="27093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70933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270933" h="270933">
                    <a:moveTo>
                      <a:pt x="0" y="0"/>
                    </a:moveTo>
                    <a:lnTo>
                      <a:pt x="270933" y="0"/>
                    </a:lnTo>
                    <a:lnTo>
                      <a:pt x="270933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300FF">
                      <a:alpha val="100000"/>
                    </a:srgbClr>
                  </a:gs>
                  <a:gs pos="100000">
                    <a:srgbClr val="00068A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270933" cy="309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" name="Freeform 6"/>
            <p:cNvSpPr/>
            <p:nvPr/>
          </p:nvSpPr>
          <p:spPr>
            <a:xfrm>
              <a:off x="3261047" y="443638"/>
              <a:ext cx="492381" cy="484323"/>
            </a:xfrm>
            <a:custGeom>
              <a:avLst/>
              <a:gdLst/>
              <a:ahLst/>
              <a:cxnLst/>
              <a:rect l="l" t="t" r="r" b="b"/>
              <a:pathLst>
                <a:path w="492381" h="484323">
                  <a:moveTo>
                    <a:pt x="0" y="0"/>
                  </a:moveTo>
                  <a:lnTo>
                    <a:pt x="492381" y="0"/>
                  </a:lnTo>
                  <a:lnTo>
                    <a:pt x="492381" y="484324"/>
                  </a:lnTo>
                  <a:lnTo>
                    <a:pt x="0" y="4843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7" name="Group 7"/>
            <p:cNvGrpSpPr/>
            <p:nvPr/>
          </p:nvGrpSpPr>
          <p:grpSpPr>
            <a:xfrm>
              <a:off x="25833837" y="12344400"/>
              <a:ext cx="1371600" cy="1371600"/>
              <a:chOff x="0" y="0"/>
              <a:chExt cx="270933" cy="270933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70933" cy="270933"/>
              </a:xfrm>
              <a:custGeom>
                <a:avLst/>
                <a:gdLst/>
                <a:ahLst/>
                <a:cxnLst/>
                <a:rect l="l" t="t" r="r" b="b"/>
                <a:pathLst>
                  <a:path w="270933" h="270933">
                    <a:moveTo>
                      <a:pt x="0" y="0"/>
                    </a:moveTo>
                    <a:lnTo>
                      <a:pt x="270933" y="0"/>
                    </a:lnTo>
                    <a:lnTo>
                      <a:pt x="270933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300FF">
                      <a:alpha val="100000"/>
                    </a:srgbClr>
                  </a:gs>
                  <a:gs pos="100000">
                    <a:srgbClr val="00068A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270933" cy="3090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/>
            <p:cNvSpPr/>
            <p:nvPr/>
          </p:nvSpPr>
          <p:spPr>
            <a:xfrm>
              <a:off x="26129261" y="491540"/>
              <a:ext cx="461821" cy="461821"/>
            </a:xfrm>
            <a:custGeom>
              <a:avLst/>
              <a:gdLst/>
              <a:ahLst/>
              <a:cxnLst/>
              <a:rect l="l" t="t" r="r" b="b"/>
              <a:pathLst>
                <a:path w="461821" h="461821">
                  <a:moveTo>
                    <a:pt x="0" y="0"/>
                  </a:moveTo>
                  <a:lnTo>
                    <a:pt x="461821" y="0"/>
                  </a:lnTo>
                  <a:lnTo>
                    <a:pt x="461821" y="461822"/>
                  </a:lnTo>
                  <a:lnTo>
                    <a:pt x="0" y="461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12199094" y="3108722"/>
              <a:ext cx="3019197" cy="3019197"/>
            </a:xfrm>
            <a:custGeom>
              <a:avLst/>
              <a:gdLst/>
              <a:ahLst/>
              <a:cxnLst/>
              <a:rect l="l" t="t" r="r" b="b"/>
              <a:pathLst>
                <a:path w="3019197" h="3019197">
                  <a:moveTo>
                    <a:pt x="0" y="0"/>
                  </a:moveTo>
                  <a:lnTo>
                    <a:pt x="3019197" y="0"/>
                  </a:lnTo>
                  <a:lnTo>
                    <a:pt x="3019197" y="3019198"/>
                  </a:lnTo>
                  <a:lnTo>
                    <a:pt x="0" y="30191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6815985" y="4114800"/>
              <a:ext cx="5486400" cy="5486400"/>
            </a:xfrm>
            <a:custGeom>
              <a:avLst/>
              <a:gdLst/>
              <a:ahLst/>
              <a:cxnLst/>
              <a:rect l="l" t="t" r="r" b="b"/>
              <a:pathLst>
                <a:path w="5486400" h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0" y="7011839"/>
              <a:ext cx="10972800" cy="10972800"/>
            </a:xfrm>
            <a:custGeom>
              <a:avLst/>
              <a:gdLst/>
              <a:ahLst/>
              <a:cxnLst/>
              <a:rect l="l" t="t" r="r" b="b"/>
              <a:pathLst>
                <a:path w="10972800" h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19999"/>
              </a:blip>
              <a:stretch>
                <a:fillRect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13320986" y="3947724"/>
              <a:ext cx="12512851" cy="3537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01"/>
                </a:lnSpc>
                <a:spcBef>
                  <a:spcPct val="0"/>
                </a:spcBef>
              </a:pPr>
              <a:r>
                <a:rPr lang="en-US" sz="15929">
                  <a:solidFill>
                    <a:srgbClr val="1F2020"/>
                  </a:solidFill>
                  <a:latin typeface="Anton"/>
                  <a:ea typeface="Anton"/>
                  <a:cs typeface="Anton"/>
                  <a:sym typeface="Anton"/>
                </a:rPr>
                <a:t>JAVASCRIPT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320986" y="6754664"/>
              <a:ext cx="12512851" cy="30543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92"/>
                </a:lnSpc>
                <a:spcBef>
                  <a:spcPct val="0"/>
                </a:spcBef>
              </a:pPr>
              <a:r>
                <a:rPr lang="en-US" sz="13780">
                  <a:solidFill>
                    <a:srgbClr val="7402C6"/>
                  </a:solidFill>
                  <a:latin typeface="Anton"/>
                  <a:ea typeface="Anton"/>
                  <a:cs typeface="Anton"/>
                  <a:sym typeface="Anton"/>
                </a:rPr>
                <a:t>OBJECTS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24006770" y="1374681"/>
              <a:ext cx="5755687" cy="5755687"/>
            </a:xfrm>
            <a:custGeom>
              <a:avLst/>
              <a:gdLst/>
              <a:ahLst/>
              <a:cxnLst/>
              <a:rect l="l" t="t" r="r" b="b"/>
              <a:pathLst>
                <a:path w="5755687" h="5755687">
                  <a:moveTo>
                    <a:pt x="0" y="0"/>
                  </a:moveTo>
                  <a:lnTo>
                    <a:pt x="5755687" y="0"/>
                  </a:lnTo>
                  <a:lnTo>
                    <a:pt x="5755687" y="5755687"/>
                  </a:lnTo>
                  <a:lnTo>
                    <a:pt x="0" y="57556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19999"/>
              </a:blip>
              <a:stretch>
                <a:fillRect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24583894" y="547469"/>
              <a:ext cx="1304614" cy="2576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1F2020"/>
                  </a:solidFill>
                  <a:latin typeface="Open Sans"/>
                  <a:ea typeface="Open Sans"/>
                  <a:cs typeface="Open Sans"/>
                  <a:sym typeface="Open Sans"/>
                </a:rPr>
                <a:t>Contact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2509498" y="547469"/>
              <a:ext cx="1413996" cy="2576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1F2020"/>
                  </a:solidFill>
                  <a:latin typeface="Open Sans"/>
                  <a:ea typeface="Open Sans"/>
                  <a:cs typeface="Open Sans"/>
                  <a:sym typeface="Open Sans"/>
                </a:rPr>
                <a:t>About Us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868490" y="547469"/>
              <a:ext cx="980608" cy="2576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1F2020"/>
                  </a:solidFill>
                  <a:latin typeface="Open Sans"/>
                  <a:ea typeface="Open Sans"/>
                  <a:cs typeface="Open Sans"/>
                  <a:sym typeface="Open Sans"/>
                </a:rPr>
                <a:t>Service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194144" y="547469"/>
              <a:ext cx="1079680" cy="2576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1F2020"/>
                  </a:solidFill>
                  <a:latin typeface="Open Sans"/>
                  <a:ea typeface="Open Sans"/>
                  <a:cs typeface="Open Sans"/>
                  <a:sym typeface="Open Sans"/>
                </a:rPr>
                <a:t>Home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154661" y="12860281"/>
              <a:ext cx="729952" cy="3112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r>
                <a:rPr lang="en-US" sz="14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32172" y="506356"/>
              <a:ext cx="4918470" cy="4622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099" b="1">
                  <a:solidFill>
                    <a:srgbClr val="7402C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DEEPER LIFE HIGH SCHOOL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028700" cy="1028700"/>
            <a:chOff x="0" y="0"/>
            <a:chExt cx="27093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E300FF">
                    <a:alpha val="100000"/>
                  </a:srgbClr>
                </a:gs>
                <a:gs pos="100000">
                  <a:srgbClr val="00068A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29707" y="332729"/>
            <a:ext cx="369285" cy="363243"/>
          </a:xfrm>
          <a:custGeom>
            <a:avLst/>
            <a:gdLst/>
            <a:ahLst/>
            <a:cxnLst/>
            <a:rect l="l" t="t" r="r" b="b"/>
            <a:pathLst>
              <a:path w="369285" h="363243">
                <a:moveTo>
                  <a:pt x="0" y="0"/>
                </a:moveTo>
                <a:lnTo>
                  <a:pt x="369286" y="0"/>
                </a:lnTo>
                <a:lnTo>
                  <a:pt x="369286" y="363242"/>
                </a:lnTo>
                <a:lnTo>
                  <a:pt x="0" y="363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283051" y="370242"/>
            <a:ext cx="3688852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b="1">
                <a:solidFill>
                  <a:srgbClr val="7402C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DEEPER LIFE HIGH SCHOOL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321842" y="405840"/>
            <a:ext cx="9784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766046" y="405840"/>
            <a:ext cx="1060497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535289" y="405840"/>
            <a:ext cx="735456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279530" y="405840"/>
            <a:ext cx="8097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E300FF">
                    <a:alpha val="100000"/>
                  </a:srgbClr>
                </a:gs>
                <a:gs pos="100000">
                  <a:srgbClr val="00068A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id="15" name="Freeform 15"/>
          <p:cNvSpPr/>
          <p:nvPr/>
        </p:nvSpPr>
        <p:spPr>
          <a:xfrm>
            <a:off x="17480868" y="368655"/>
            <a:ext cx="346366" cy="346366"/>
          </a:xfrm>
          <a:custGeom>
            <a:avLst/>
            <a:gdLst/>
            <a:ahLst/>
            <a:cxnLst/>
            <a:rect l="l" t="t" r="r" b="b"/>
            <a:pathLst>
              <a:path w="346366" h="346366">
                <a:moveTo>
                  <a:pt x="0" y="0"/>
                </a:moveTo>
                <a:lnTo>
                  <a:pt x="346366" y="0"/>
                </a:lnTo>
                <a:lnTo>
                  <a:pt x="346366" y="346366"/>
                </a:lnTo>
                <a:lnTo>
                  <a:pt x="0" y="3463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5889000" y="1031011"/>
            <a:ext cx="4316765" cy="4316765"/>
          </a:xfrm>
          <a:custGeom>
            <a:avLst/>
            <a:gdLst/>
            <a:ahLst/>
            <a:cxnLst/>
            <a:rect l="l" t="t" r="r" b="b"/>
            <a:pathLst>
              <a:path w="4316765" h="4316765">
                <a:moveTo>
                  <a:pt x="0" y="0"/>
                </a:moveTo>
                <a:lnTo>
                  <a:pt x="4316765" y="0"/>
                </a:lnTo>
                <a:lnTo>
                  <a:pt x="4316765" y="4316765"/>
                </a:lnTo>
                <a:lnTo>
                  <a:pt x="0" y="43167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0" y="1028700"/>
            <a:ext cx="8408303" cy="9258300"/>
            <a:chOff x="0" y="0"/>
            <a:chExt cx="11211071" cy="12344400"/>
          </a:xfrm>
        </p:grpSpPr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7"/>
            <a:srcRect b="26593"/>
            <a:stretch>
              <a:fillRect/>
            </a:stretch>
          </p:blipFill>
          <p:spPr>
            <a:xfrm>
              <a:off x="0" y="0"/>
              <a:ext cx="11211071" cy="12344400"/>
            </a:xfrm>
            <a:prstGeom prst="rect">
              <a:avLst/>
            </a:prstGeom>
          </p:spPr>
        </p:pic>
      </p:grpSp>
      <p:sp>
        <p:nvSpPr>
          <p:cNvPr id="19" name="Freeform 19"/>
          <p:cNvSpPr/>
          <p:nvPr/>
        </p:nvSpPr>
        <p:spPr>
          <a:xfrm>
            <a:off x="9883689" y="1832671"/>
            <a:ext cx="1242423" cy="1242423"/>
          </a:xfrm>
          <a:custGeom>
            <a:avLst/>
            <a:gdLst/>
            <a:ahLst/>
            <a:cxnLst/>
            <a:rect l="l" t="t" r="r" b="b"/>
            <a:pathLst>
              <a:path w="1242423" h="1242423">
                <a:moveTo>
                  <a:pt x="0" y="0"/>
                </a:moveTo>
                <a:lnTo>
                  <a:pt x="1242423" y="0"/>
                </a:lnTo>
                <a:lnTo>
                  <a:pt x="1242423" y="1242422"/>
                </a:lnTo>
                <a:lnTo>
                  <a:pt x="0" y="12424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0419176" y="880106"/>
            <a:ext cx="6840124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49"/>
              </a:lnSpc>
            </a:pPr>
            <a:r>
              <a:rPr lang="en-US" sz="7499">
                <a:solidFill>
                  <a:srgbClr val="1F2020"/>
                </a:solidFill>
                <a:latin typeface="Anton"/>
                <a:ea typeface="Anton"/>
                <a:cs typeface="Anton"/>
                <a:sym typeface="Anton"/>
              </a:rPr>
              <a:t>What is Object in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419176" y="1846368"/>
            <a:ext cx="5328489" cy="116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50"/>
              </a:lnSpc>
            </a:pPr>
            <a:r>
              <a:rPr lang="en-US" sz="7500">
                <a:solidFill>
                  <a:srgbClr val="7402C6"/>
                </a:solidFill>
                <a:latin typeface="Anton"/>
                <a:ea typeface="Anton"/>
                <a:cs typeface="Anton"/>
                <a:sym typeface="Anton"/>
              </a:rPr>
              <a:t>JavaScript?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002783" y="3113193"/>
            <a:ext cx="8478084" cy="6371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325"/>
              </a:lnSpc>
            </a:pPr>
            <a:r>
              <a:rPr lang="en-US" sz="4518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An object is a standalone entity that stores key-value pairs. </a:t>
            </a:r>
          </a:p>
          <a:p>
            <a:pPr algn="just">
              <a:lnSpc>
                <a:spcPts val="6325"/>
              </a:lnSpc>
              <a:spcBef>
                <a:spcPct val="0"/>
              </a:spcBef>
            </a:pPr>
            <a:r>
              <a:rPr lang="en-US" sz="4518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Objects are used to represent real-world entities or organise data logically by grouping related data (called properties) and functions (called methods) together.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028700" cy="1028700"/>
            <a:chOff x="0" y="0"/>
            <a:chExt cx="27093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E300FF">
                    <a:alpha val="100000"/>
                  </a:srgbClr>
                </a:gs>
                <a:gs pos="100000">
                  <a:srgbClr val="00068A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29707" y="332729"/>
            <a:ext cx="369285" cy="363243"/>
          </a:xfrm>
          <a:custGeom>
            <a:avLst/>
            <a:gdLst/>
            <a:ahLst/>
            <a:cxnLst/>
            <a:rect l="l" t="t" r="r" b="b"/>
            <a:pathLst>
              <a:path w="369285" h="363243">
                <a:moveTo>
                  <a:pt x="0" y="0"/>
                </a:moveTo>
                <a:lnTo>
                  <a:pt x="369286" y="0"/>
                </a:lnTo>
                <a:lnTo>
                  <a:pt x="369286" y="363242"/>
                </a:lnTo>
                <a:lnTo>
                  <a:pt x="0" y="363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6321842" y="405840"/>
            <a:ext cx="9784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766046" y="405840"/>
            <a:ext cx="1060497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535289" y="405840"/>
            <a:ext cx="735456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279530" y="405840"/>
            <a:ext cx="8097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E300FF">
                    <a:alpha val="100000"/>
                  </a:srgbClr>
                </a:gs>
                <a:gs pos="100000">
                  <a:srgbClr val="00068A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7499918" y="9638067"/>
            <a:ext cx="547464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id="14" name="Freeform 14"/>
          <p:cNvSpPr/>
          <p:nvPr/>
        </p:nvSpPr>
        <p:spPr>
          <a:xfrm>
            <a:off x="17480868" y="368655"/>
            <a:ext cx="346366" cy="346366"/>
          </a:xfrm>
          <a:custGeom>
            <a:avLst/>
            <a:gdLst/>
            <a:ahLst/>
            <a:cxnLst/>
            <a:rect l="l" t="t" r="r" b="b"/>
            <a:pathLst>
              <a:path w="346366" h="346366">
                <a:moveTo>
                  <a:pt x="0" y="0"/>
                </a:moveTo>
                <a:lnTo>
                  <a:pt x="346366" y="0"/>
                </a:lnTo>
                <a:lnTo>
                  <a:pt x="346366" y="346366"/>
                </a:lnTo>
                <a:lnTo>
                  <a:pt x="0" y="3463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2116078" y="5258879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5889000" y="1031011"/>
            <a:ext cx="4316765" cy="4316765"/>
          </a:xfrm>
          <a:custGeom>
            <a:avLst/>
            <a:gdLst/>
            <a:ahLst/>
            <a:cxnLst/>
            <a:rect l="l" t="t" r="r" b="b"/>
            <a:pathLst>
              <a:path w="4316765" h="4316765">
                <a:moveTo>
                  <a:pt x="0" y="0"/>
                </a:moveTo>
                <a:lnTo>
                  <a:pt x="4316765" y="0"/>
                </a:lnTo>
                <a:lnTo>
                  <a:pt x="4316765" y="4316765"/>
                </a:lnTo>
                <a:lnTo>
                  <a:pt x="0" y="43167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1028700" y="1078316"/>
            <a:ext cx="7063602" cy="3989275"/>
            <a:chOff x="0" y="0"/>
            <a:chExt cx="9418137" cy="5319033"/>
          </a:xfrm>
        </p:grpSpPr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7"/>
            <a:srcRect t="31174" b="31174"/>
            <a:stretch>
              <a:fillRect/>
            </a:stretch>
          </p:blipFill>
          <p:spPr>
            <a:xfrm>
              <a:off x="0" y="0"/>
              <a:ext cx="9418137" cy="5319033"/>
            </a:xfrm>
            <a:prstGeom prst="rect">
              <a:avLst/>
            </a:prstGeom>
          </p:spPr>
        </p:pic>
      </p:grpSp>
      <p:grpSp>
        <p:nvGrpSpPr>
          <p:cNvPr id="19" name="Group 19"/>
          <p:cNvGrpSpPr/>
          <p:nvPr/>
        </p:nvGrpSpPr>
        <p:grpSpPr>
          <a:xfrm>
            <a:off x="1028700" y="5269025"/>
            <a:ext cx="7063602" cy="3989275"/>
            <a:chOff x="0" y="0"/>
            <a:chExt cx="9418137" cy="5319033"/>
          </a:xfrm>
        </p:grpSpPr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8"/>
            <a:srcRect b="15232"/>
            <a:stretch>
              <a:fillRect/>
            </a:stretch>
          </p:blipFill>
          <p:spPr>
            <a:xfrm>
              <a:off x="0" y="0"/>
              <a:ext cx="9418137" cy="5319033"/>
            </a:xfrm>
            <a:prstGeom prst="rect">
              <a:avLst/>
            </a:prstGeom>
          </p:spPr>
        </p:pic>
      </p:grpSp>
      <p:sp>
        <p:nvSpPr>
          <p:cNvPr id="21" name="Freeform 21"/>
          <p:cNvSpPr/>
          <p:nvPr/>
        </p:nvSpPr>
        <p:spPr>
          <a:xfrm>
            <a:off x="9577283" y="1823146"/>
            <a:ext cx="1242423" cy="1242423"/>
          </a:xfrm>
          <a:custGeom>
            <a:avLst/>
            <a:gdLst/>
            <a:ahLst/>
            <a:cxnLst/>
            <a:rect l="l" t="t" r="r" b="b"/>
            <a:pathLst>
              <a:path w="1242423" h="1242423">
                <a:moveTo>
                  <a:pt x="0" y="0"/>
                </a:moveTo>
                <a:lnTo>
                  <a:pt x="1242423" y="0"/>
                </a:lnTo>
                <a:lnTo>
                  <a:pt x="1242423" y="1242422"/>
                </a:lnTo>
                <a:lnTo>
                  <a:pt x="0" y="12424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0203589" y="4231867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03589" y="6680844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419176" y="880106"/>
            <a:ext cx="6840124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49"/>
              </a:lnSpc>
            </a:pPr>
            <a:r>
              <a:rPr lang="en-US" sz="7499">
                <a:solidFill>
                  <a:srgbClr val="1F2020"/>
                </a:solidFill>
                <a:latin typeface="Anton"/>
                <a:ea typeface="Anton"/>
                <a:cs typeface="Anton"/>
                <a:sym typeface="Anton"/>
              </a:rPr>
              <a:t>The structure of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419176" y="1846368"/>
            <a:ext cx="5328489" cy="116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50"/>
              </a:lnSpc>
            </a:pPr>
            <a:r>
              <a:rPr lang="en-US" sz="7500">
                <a:solidFill>
                  <a:srgbClr val="7402C6"/>
                </a:solidFill>
                <a:latin typeface="Anton"/>
                <a:ea typeface="Anton"/>
                <a:cs typeface="Anton"/>
                <a:sym typeface="Anton"/>
              </a:rPr>
              <a:t>An Object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303207" y="3033262"/>
            <a:ext cx="8158611" cy="6681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605"/>
              </a:lnSpc>
            </a:pPr>
            <a:r>
              <a:rPr lang="en-US" sz="4718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 JavaScript object is defined using curly braces { }. </a:t>
            </a:r>
          </a:p>
          <a:p>
            <a:pPr algn="just">
              <a:lnSpc>
                <a:spcPts val="6605"/>
              </a:lnSpc>
              <a:spcBef>
                <a:spcPct val="0"/>
              </a:spcBef>
            </a:pPr>
            <a:r>
              <a:rPr lang="en-US" sz="4718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The keys are property names, and the values can be of any data type, including strings, numbers, arrays, other objects, or functions.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83051" y="370242"/>
            <a:ext cx="3688852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b="1">
                <a:solidFill>
                  <a:srgbClr val="7402C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DEEPER LIFE HIGH SCHOOL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028700" cy="1028700"/>
            <a:chOff x="0" y="0"/>
            <a:chExt cx="27093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E300FF">
                    <a:alpha val="100000"/>
                  </a:srgbClr>
                </a:gs>
                <a:gs pos="100000">
                  <a:srgbClr val="00068A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29707" y="332729"/>
            <a:ext cx="369285" cy="363243"/>
          </a:xfrm>
          <a:custGeom>
            <a:avLst/>
            <a:gdLst/>
            <a:ahLst/>
            <a:cxnLst/>
            <a:rect l="l" t="t" r="r" b="b"/>
            <a:pathLst>
              <a:path w="369285" h="363243">
                <a:moveTo>
                  <a:pt x="0" y="0"/>
                </a:moveTo>
                <a:lnTo>
                  <a:pt x="369286" y="0"/>
                </a:lnTo>
                <a:lnTo>
                  <a:pt x="369286" y="363242"/>
                </a:lnTo>
                <a:lnTo>
                  <a:pt x="0" y="363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6321842" y="405840"/>
            <a:ext cx="9784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766046" y="405840"/>
            <a:ext cx="1060497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535289" y="405840"/>
            <a:ext cx="735456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279530" y="405840"/>
            <a:ext cx="8097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E300FF">
                    <a:alpha val="100000"/>
                  </a:srgbClr>
                </a:gs>
                <a:gs pos="100000">
                  <a:srgbClr val="00068A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7499918" y="9638067"/>
            <a:ext cx="547464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sp>
        <p:nvSpPr>
          <p:cNvPr id="14" name="Freeform 14"/>
          <p:cNvSpPr/>
          <p:nvPr/>
        </p:nvSpPr>
        <p:spPr>
          <a:xfrm>
            <a:off x="17480868" y="368655"/>
            <a:ext cx="346366" cy="346366"/>
          </a:xfrm>
          <a:custGeom>
            <a:avLst/>
            <a:gdLst/>
            <a:ahLst/>
            <a:cxnLst/>
            <a:rect l="l" t="t" r="r" b="b"/>
            <a:pathLst>
              <a:path w="346366" h="346366">
                <a:moveTo>
                  <a:pt x="0" y="0"/>
                </a:moveTo>
                <a:lnTo>
                  <a:pt x="346366" y="0"/>
                </a:lnTo>
                <a:lnTo>
                  <a:pt x="346366" y="346366"/>
                </a:lnTo>
                <a:lnTo>
                  <a:pt x="0" y="3463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5889000" y="1031011"/>
            <a:ext cx="4316765" cy="4316765"/>
          </a:xfrm>
          <a:custGeom>
            <a:avLst/>
            <a:gdLst/>
            <a:ahLst/>
            <a:cxnLst/>
            <a:rect l="l" t="t" r="r" b="b"/>
            <a:pathLst>
              <a:path w="4316765" h="4316765">
                <a:moveTo>
                  <a:pt x="0" y="0"/>
                </a:moveTo>
                <a:lnTo>
                  <a:pt x="4316765" y="0"/>
                </a:lnTo>
                <a:lnTo>
                  <a:pt x="4316765" y="4316765"/>
                </a:lnTo>
                <a:lnTo>
                  <a:pt x="0" y="43167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2916277" y="1031011"/>
            <a:ext cx="4343023" cy="8227289"/>
            <a:chOff x="0" y="0"/>
            <a:chExt cx="5790697" cy="10969719"/>
          </a:xfrm>
        </p:grpSpPr>
        <p:pic>
          <p:nvPicPr>
            <p:cNvPr id="17" name="Picture 17"/>
            <p:cNvPicPr>
              <a:picLocks noChangeAspect="1"/>
            </p:cNvPicPr>
            <p:nvPr/>
          </p:nvPicPr>
          <p:blipFill>
            <a:blip r:embed="rId7"/>
            <a:srcRect l="38160" r="26669"/>
            <a:stretch>
              <a:fillRect/>
            </a:stretch>
          </p:blipFill>
          <p:spPr>
            <a:xfrm>
              <a:off x="0" y="0"/>
              <a:ext cx="5790697" cy="10969719"/>
            </a:xfrm>
            <a:prstGeom prst="rect">
              <a:avLst/>
            </a:prstGeom>
          </p:spPr>
        </p:pic>
      </p:grpSp>
      <p:sp>
        <p:nvSpPr>
          <p:cNvPr id="18" name="Freeform 18"/>
          <p:cNvSpPr/>
          <p:nvPr/>
        </p:nvSpPr>
        <p:spPr>
          <a:xfrm>
            <a:off x="1547671" y="1565078"/>
            <a:ext cx="1242423" cy="1242423"/>
          </a:xfrm>
          <a:custGeom>
            <a:avLst/>
            <a:gdLst/>
            <a:ahLst/>
            <a:cxnLst/>
            <a:rect l="l" t="t" r="r" b="b"/>
            <a:pathLst>
              <a:path w="1242423" h="1242423">
                <a:moveTo>
                  <a:pt x="0" y="0"/>
                </a:moveTo>
                <a:lnTo>
                  <a:pt x="1242423" y="0"/>
                </a:lnTo>
                <a:lnTo>
                  <a:pt x="1242423" y="1242423"/>
                </a:lnTo>
                <a:lnTo>
                  <a:pt x="0" y="12424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823896" y="1033764"/>
            <a:ext cx="6840124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49"/>
              </a:lnSpc>
            </a:pPr>
            <a:r>
              <a:rPr lang="en-US" sz="7499">
                <a:solidFill>
                  <a:srgbClr val="1F2020"/>
                </a:solidFill>
                <a:latin typeface="Anton"/>
                <a:ea typeface="Anton"/>
                <a:cs typeface="Anton"/>
                <a:sym typeface="Anton"/>
              </a:rPr>
              <a:t>The Syntax of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04058" y="2216951"/>
            <a:ext cx="5328489" cy="116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50"/>
              </a:lnSpc>
            </a:pPr>
            <a:r>
              <a:rPr lang="en-US" sz="7500">
                <a:solidFill>
                  <a:srgbClr val="7402C6"/>
                </a:solidFill>
                <a:latin typeface="Anton"/>
                <a:ea typeface="Anton"/>
                <a:cs typeface="Anton"/>
                <a:sym typeface="Anton"/>
              </a:rPr>
              <a:t>An Object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98993" y="3788576"/>
            <a:ext cx="11985417" cy="5842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605"/>
              </a:lnSpc>
            </a:pPr>
            <a:r>
              <a:rPr lang="en-US" sz="4718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let objectName = { </a:t>
            </a:r>
          </a:p>
          <a:p>
            <a:pPr algn="just">
              <a:lnSpc>
                <a:spcPts val="6605"/>
              </a:lnSpc>
            </a:pPr>
            <a:r>
              <a:rPr lang="en-US" sz="4718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  key1: value1, // Property 1: key-value pair</a:t>
            </a:r>
          </a:p>
          <a:p>
            <a:pPr algn="just">
              <a:lnSpc>
                <a:spcPts val="6605"/>
              </a:lnSpc>
            </a:pPr>
            <a:r>
              <a:rPr lang="en-US" sz="4718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  key2: value2, // Property 2: key-value pair</a:t>
            </a:r>
          </a:p>
          <a:p>
            <a:pPr algn="just">
              <a:lnSpc>
                <a:spcPts val="6605"/>
              </a:lnSpc>
            </a:pPr>
            <a:r>
              <a:rPr lang="en-US" sz="4718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  key3: function() { </a:t>
            </a:r>
          </a:p>
          <a:p>
            <a:pPr algn="just">
              <a:lnSpc>
                <a:spcPts val="6605"/>
              </a:lnSpc>
            </a:pPr>
            <a:r>
              <a:rPr lang="en-US" sz="4718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            // Method (function as a value) </a:t>
            </a:r>
          </a:p>
          <a:p>
            <a:pPr algn="just">
              <a:lnSpc>
                <a:spcPts val="6605"/>
              </a:lnSpc>
            </a:pPr>
            <a:r>
              <a:rPr lang="en-US" sz="4718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    } </a:t>
            </a:r>
          </a:p>
          <a:p>
            <a:pPr algn="just">
              <a:lnSpc>
                <a:spcPts val="6605"/>
              </a:lnSpc>
              <a:spcBef>
                <a:spcPct val="0"/>
              </a:spcBef>
            </a:pPr>
            <a:r>
              <a:rPr lang="en-US" sz="4718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};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83051" y="370242"/>
            <a:ext cx="3688852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b="1">
                <a:solidFill>
                  <a:srgbClr val="7402C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DEEPER LIFE HIGH SCHOOL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028700" cy="1028700"/>
            <a:chOff x="0" y="0"/>
            <a:chExt cx="27093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E300FF">
                    <a:alpha val="100000"/>
                  </a:srgbClr>
                </a:gs>
                <a:gs pos="100000">
                  <a:srgbClr val="00068A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29707" y="332729"/>
            <a:ext cx="369285" cy="363243"/>
          </a:xfrm>
          <a:custGeom>
            <a:avLst/>
            <a:gdLst/>
            <a:ahLst/>
            <a:cxnLst/>
            <a:rect l="l" t="t" r="r" b="b"/>
            <a:pathLst>
              <a:path w="369285" h="363243">
                <a:moveTo>
                  <a:pt x="0" y="0"/>
                </a:moveTo>
                <a:lnTo>
                  <a:pt x="369286" y="0"/>
                </a:lnTo>
                <a:lnTo>
                  <a:pt x="369286" y="363242"/>
                </a:lnTo>
                <a:lnTo>
                  <a:pt x="0" y="363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E300FF">
                    <a:alpha val="100000"/>
                  </a:srgbClr>
                </a:gs>
                <a:gs pos="100000">
                  <a:srgbClr val="00068A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7480868" y="368655"/>
            <a:ext cx="346366" cy="346366"/>
          </a:xfrm>
          <a:custGeom>
            <a:avLst/>
            <a:gdLst/>
            <a:ahLst/>
            <a:cxnLst/>
            <a:rect l="l" t="t" r="r" b="b"/>
            <a:pathLst>
              <a:path w="346366" h="346366">
                <a:moveTo>
                  <a:pt x="0" y="0"/>
                </a:moveTo>
                <a:lnTo>
                  <a:pt x="346366" y="0"/>
                </a:lnTo>
                <a:lnTo>
                  <a:pt x="346366" y="346366"/>
                </a:lnTo>
                <a:lnTo>
                  <a:pt x="0" y="3463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2116078" y="5258879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889000" y="1031011"/>
            <a:ext cx="4316765" cy="4316765"/>
          </a:xfrm>
          <a:custGeom>
            <a:avLst/>
            <a:gdLst/>
            <a:ahLst/>
            <a:cxnLst/>
            <a:rect l="l" t="t" r="r" b="b"/>
            <a:pathLst>
              <a:path w="4316765" h="4316765">
                <a:moveTo>
                  <a:pt x="0" y="0"/>
                </a:moveTo>
                <a:lnTo>
                  <a:pt x="4316765" y="0"/>
                </a:lnTo>
                <a:lnTo>
                  <a:pt x="4316765" y="4316765"/>
                </a:lnTo>
                <a:lnTo>
                  <a:pt x="0" y="43167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0933735" y="1097956"/>
            <a:ext cx="6325565" cy="8160344"/>
            <a:chOff x="0" y="0"/>
            <a:chExt cx="8434087" cy="10880458"/>
          </a:xfrm>
        </p:grpSpPr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7"/>
            <a:srcRect l="2662" r="2662"/>
            <a:stretch>
              <a:fillRect/>
            </a:stretch>
          </p:blipFill>
          <p:spPr>
            <a:xfrm>
              <a:off x="0" y="0"/>
              <a:ext cx="8434087" cy="10880458"/>
            </a:xfrm>
            <a:prstGeom prst="rect">
              <a:avLst/>
            </a:prstGeom>
          </p:spPr>
        </p:pic>
      </p:grpSp>
      <p:sp>
        <p:nvSpPr>
          <p:cNvPr id="14" name="Freeform 14"/>
          <p:cNvSpPr/>
          <p:nvPr/>
        </p:nvSpPr>
        <p:spPr>
          <a:xfrm>
            <a:off x="1817989" y="1821880"/>
            <a:ext cx="1242423" cy="1242423"/>
          </a:xfrm>
          <a:custGeom>
            <a:avLst/>
            <a:gdLst/>
            <a:ahLst/>
            <a:cxnLst/>
            <a:rect l="l" t="t" r="r" b="b"/>
            <a:pathLst>
              <a:path w="1242423" h="1242423">
                <a:moveTo>
                  <a:pt x="0" y="0"/>
                </a:moveTo>
                <a:lnTo>
                  <a:pt x="1242422" y="0"/>
                </a:lnTo>
                <a:lnTo>
                  <a:pt x="1242422" y="1242423"/>
                </a:lnTo>
                <a:lnTo>
                  <a:pt x="0" y="12424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6321842" y="405840"/>
            <a:ext cx="9784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766046" y="405840"/>
            <a:ext cx="1060497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535289" y="405840"/>
            <a:ext cx="735456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279530" y="405840"/>
            <a:ext cx="8097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499918" y="9638067"/>
            <a:ext cx="547464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817989" y="1064357"/>
            <a:ext cx="5328489" cy="1133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27"/>
              </a:lnSpc>
            </a:pPr>
            <a:r>
              <a:rPr lang="en-US" sz="7399">
                <a:solidFill>
                  <a:srgbClr val="1F2020"/>
                </a:solidFill>
                <a:latin typeface="Anton"/>
                <a:ea typeface="Anton"/>
                <a:cs typeface="Anton"/>
                <a:sym typeface="Anton"/>
              </a:rPr>
              <a:t>EXAMPLE OF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326471" y="1102457"/>
            <a:ext cx="5328489" cy="1133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27"/>
              </a:lnSpc>
            </a:pPr>
            <a:r>
              <a:rPr lang="en-US" sz="7399">
                <a:solidFill>
                  <a:srgbClr val="7402C6"/>
                </a:solidFill>
                <a:latin typeface="Anton"/>
                <a:ea typeface="Anton"/>
                <a:cs typeface="Anton"/>
                <a:sym typeface="Anton"/>
              </a:rPr>
              <a:t>OBJECT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98993" y="3054778"/>
            <a:ext cx="10955967" cy="365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46"/>
              </a:lnSpc>
            </a:pPr>
            <a:r>
              <a:rPr lang="en-US" sz="4175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let student = { </a:t>
            </a:r>
          </a:p>
          <a:p>
            <a:pPr algn="l">
              <a:lnSpc>
                <a:spcPts val="5846"/>
              </a:lnSpc>
            </a:pPr>
            <a:r>
              <a:rPr lang="en-US" sz="4175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     name: "John Doe",        // String value</a:t>
            </a:r>
          </a:p>
          <a:p>
            <a:pPr algn="l">
              <a:lnSpc>
                <a:spcPts val="5846"/>
              </a:lnSpc>
            </a:pPr>
            <a:r>
              <a:rPr lang="en-US" sz="4175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     age: 16,                          // Number </a:t>
            </a:r>
          </a:p>
          <a:p>
            <a:pPr algn="l">
              <a:lnSpc>
                <a:spcPts val="5846"/>
              </a:lnSpc>
            </a:pPr>
            <a:r>
              <a:rPr lang="en-US" sz="4175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     valueisEnrolled: true, // Boolean value </a:t>
            </a:r>
          </a:p>
          <a:p>
            <a:pPr algn="l">
              <a:lnSpc>
                <a:spcPts val="5846"/>
              </a:lnSpc>
              <a:spcBef>
                <a:spcPct val="0"/>
              </a:spcBef>
            </a:pPr>
            <a:r>
              <a:rPr lang="en-US" sz="4175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};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83051" y="370242"/>
            <a:ext cx="3688852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b="1">
                <a:solidFill>
                  <a:srgbClr val="7402C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DEEPER LIFE HIGH SCHOOL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028700" cy="1028700"/>
            <a:chOff x="0" y="0"/>
            <a:chExt cx="27093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E300FF">
                    <a:alpha val="100000"/>
                  </a:srgbClr>
                </a:gs>
                <a:gs pos="100000">
                  <a:srgbClr val="00068A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29707" y="332729"/>
            <a:ext cx="369285" cy="363243"/>
          </a:xfrm>
          <a:custGeom>
            <a:avLst/>
            <a:gdLst/>
            <a:ahLst/>
            <a:cxnLst/>
            <a:rect l="l" t="t" r="r" b="b"/>
            <a:pathLst>
              <a:path w="369285" h="363243">
                <a:moveTo>
                  <a:pt x="0" y="0"/>
                </a:moveTo>
                <a:lnTo>
                  <a:pt x="369286" y="0"/>
                </a:lnTo>
                <a:lnTo>
                  <a:pt x="369286" y="363242"/>
                </a:lnTo>
                <a:lnTo>
                  <a:pt x="0" y="363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E300FF">
                    <a:alpha val="100000"/>
                  </a:srgbClr>
                </a:gs>
                <a:gs pos="100000">
                  <a:srgbClr val="00068A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7480868" y="368655"/>
            <a:ext cx="346366" cy="346366"/>
          </a:xfrm>
          <a:custGeom>
            <a:avLst/>
            <a:gdLst/>
            <a:ahLst/>
            <a:cxnLst/>
            <a:rect l="l" t="t" r="r" b="b"/>
            <a:pathLst>
              <a:path w="346366" h="346366">
                <a:moveTo>
                  <a:pt x="0" y="0"/>
                </a:moveTo>
                <a:lnTo>
                  <a:pt x="346366" y="0"/>
                </a:lnTo>
                <a:lnTo>
                  <a:pt x="346366" y="346366"/>
                </a:lnTo>
                <a:lnTo>
                  <a:pt x="0" y="3463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2116078" y="5258879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889000" y="1031011"/>
            <a:ext cx="4316765" cy="4316765"/>
          </a:xfrm>
          <a:custGeom>
            <a:avLst/>
            <a:gdLst/>
            <a:ahLst/>
            <a:cxnLst/>
            <a:rect l="l" t="t" r="r" b="b"/>
            <a:pathLst>
              <a:path w="4316765" h="4316765">
                <a:moveTo>
                  <a:pt x="0" y="0"/>
                </a:moveTo>
                <a:lnTo>
                  <a:pt x="4316765" y="0"/>
                </a:lnTo>
                <a:lnTo>
                  <a:pt x="4316765" y="4316765"/>
                </a:lnTo>
                <a:lnTo>
                  <a:pt x="0" y="43167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0933735" y="1097956"/>
            <a:ext cx="6325565" cy="8160344"/>
            <a:chOff x="0" y="0"/>
            <a:chExt cx="8434087" cy="10880458"/>
          </a:xfrm>
        </p:grpSpPr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7"/>
            <a:srcRect l="24177" r="24177"/>
            <a:stretch>
              <a:fillRect/>
            </a:stretch>
          </p:blipFill>
          <p:spPr>
            <a:xfrm>
              <a:off x="0" y="0"/>
              <a:ext cx="8434087" cy="10880458"/>
            </a:xfrm>
            <a:prstGeom prst="rect">
              <a:avLst/>
            </a:prstGeom>
          </p:spPr>
        </p:pic>
      </p:grpSp>
      <p:sp>
        <p:nvSpPr>
          <p:cNvPr id="14" name="Freeform 14"/>
          <p:cNvSpPr/>
          <p:nvPr/>
        </p:nvSpPr>
        <p:spPr>
          <a:xfrm>
            <a:off x="1817989" y="1821880"/>
            <a:ext cx="1242423" cy="1242423"/>
          </a:xfrm>
          <a:custGeom>
            <a:avLst/>
            <a:gdLst/>
            <a:ahLst/>
            <a:cxnLst/>
            <a:rect l="l" t="t" r="r" b="b"/>
            <a:pathLst>
              <a:path w="1242423" h="1242423">
                <a:moveTo>
                  <a:pt x="0" y="0"/>
                </a:moveTo>
                <a:lnTo>
                  <a:pt x="1242422" y="0"/>
                </a:lnTo>
                <a:lnTo>
                  <a:pt x="1242422" y="1242423"/>
                </a:lnTo>
                <a:lnTo>
                  <a:pt x="0" y="12424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6321842" y="405840"/>
            <a:ext cx="9784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766046" y="405840"/>
            <a:ext cx="1060497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535289" y="405840"/>
            <a:ext cx="735456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279530" y="405840"/>
            <a:ext cx="8097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499918" y="9638067"/>
            <a:ext cx="547464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06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817989" y="1064357"/>
            <a:ext cx="5328489" cy="1133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27"/>
              </a:lnSpc>
            </a:pPr>
            <a:r>
              <a:rPr lang="en-US" sz="7399">
                <a:solidFill>
                  <a:srgbClr val="1F2020"/>
                </a:solidFill>
                <a:latin typeface="Anton"/>
                <a:ea typeface="Anton"/>
                <a:cs typeface="Anton"/>
                <a:sym typeface="Anton"/>
              </a:rPr>
              <a:t>EXAMPLE OF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326471" y="1102457"/>
            <a:ext cx="5328489" cy="1133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27"/>
              </a:lnSpc>
            </a:pPr>
            <a:r>
              <a:rPr lang="en-US" sz="7399">
                <a:solidFill>
                  <a:srgbClr val="7402C6"/>
                </a:solidFill>
                <a:latin typeface="Anton"/>
                <a:ea typeface="Anton"/>
                <a:cs typeface="Anton"/>
                <a:sym typeface="Anton"/>
              </a:rPr>
              <a:t>OBJECT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98993" y="2357366"/>
            <a:ext cx="10450158" cy="7343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46"/>
              </a:lnSpc>
            </a:pPr>
            <a:r>
              <a:rPr lang="en-US" sz="4175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let car = { </a:t>
            </a:r>
          </a:p>
          <a:p>
            <a:pPr algn="l">
              <a:lnSpc>
                <a:spcPts val="5846"/>
              </a:lnSpc>
            </a:pPr>
            <a:r>
              <a:rPr lang="en-US" sz="4175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       brand: "Toyota", </a:t>
            </a:r>
          </a:p>
          <a:p>
            <a:pPr algn="l">
              <a:lnSpc>
                <a:spcPts val="5846"/>
              </a:lnSpc>
            </a:pPr>
            <a:r>
              <a:rPr lang="en-US" sz="4175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       model: "Camry", </a:t>
            </a:r>
          </a:p>
          <a:p>
            <a:pPr algn="l">
              <a:lnSpc>
                <a:spcPts val="5846"/>
              </a:lnSpc>
            </a:pPr>
            <a:r>
              <a:rPr lang="en-US" sz="4175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       year: 2022, </a:t>
            </a:r>
          </a:p>
          <a:p>
            <a:pPr algn="l">
              <a:lnSpc>
                <a:spcPts val="5846"/>
              </a:lnSpc>
            </a:pPr>
            <a:r>
              <a:rPr lang="en-US" sz="4175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      start: function() {          </a:t>
            </a:r>
          </a:p>
          <a:p>
            <a:pPr algn="l">
              <a:lnSpc>
                <a:spcPts val="5846"/>
              </a:lnSpc>
            </a:pPr>
            <a:r>
              <a:rPr lang="en-US" sz="4175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      console.log("Car is starting..."); </a:t>
            </a:r>
          </a:p>
          <a:p>
            <a:pPr algn="l">
              <a:lnSpc>
                <a:spcPts val="5846"/>
              </a:lnSpc>
            </a:pPr>
            <a:r>
              <a:rPr lang="en-US" sz="4175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      } </a:t>
            </a:r>
          </a:p>
          <a:p>
            <a:pPr algn="l">
              <a:lnSpc>
                <a:spcPts val="5846"/>
              </a:lnSpc>
            </a:pPr>
            <a:r>
              <a:rPr lang="en-US" sz="4175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}; </a:t>
            </a:r>
          </a:p>
          <a:p>
            <a:pPr algn="l">
              <a:lnSpc>
                <a:spcPts val="5846"/>
              </a:lnSpc>
              <a:spcBef>
                <a:spcPct val="0"/>
              </a:spcBef>
            </a:pPr>
            <a:r>
              <a:rPr lang="en-US" sz="4175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console.log(car.brand); // Output: Toyota car.start(); // Output: Car is starting...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83051" y="370242"/>
            <a:ext cx="3688852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b="1">
                <a:solidFill>
                  <a:srgbClr val="7402C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DEEPER LIFE HIGH SCHOOL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028700" cy="1028700"/>
            <a:chOff x="0" y="0"/>
            <a:chExt cx="27093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E300FF">
                    <a:alpha val="100000"/>
                  </a:srgbClr>
                </a:gs>
                <a:gs pos="100000">
                  <a:srgbClr val="00068A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29707" y="332729"/>
            <a:ext cx="369285" cy="363243"/>
          </a:xfrm>
          <a:custGeom>
            <a:avLst/>
            <a:gdLst/>
            <a:ahLst/>
            <a:cxnLst/>
            <a:rect l="l" t="t" r="r" b="b"/>
            <a:pathLst>
              <a:path w="369285" h="363243">
                <a:moveTo>
                  <a:pt x="0" y="0"/>
                </a:moveTo>
                <a:lnTo>
                  <a:pt x="369286" y="0"/>
                </a:lnTo>
                <a:lnTo>
                  <a:pt x="369286" y="363242"/>
                </a:lnTo>
                <a:lnTo>
                  <a:pt x="0" y="363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E300FF">
                    <a:alpha val="100000"/>
                  </a:srgbClr>
                </a:gs>
                <a:gs pos="100000">
                  <a:srgbClr val="00068A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7480868" y="368655"/>
            <a:ext cx="346366" cy="346366"/>
          </a:xfrm>
          <a:custGeom>
            <a:avLst/>
            <a:gdLst/>
            <a:ahLst/>
            <a:cxnLst/>
            <a:rect l="l" t="t" r="r" b="b"/>
            <a:pathLst>
              <a:path w="346366" h="346366">
                <a:moveTo>
                  <a:pt x="0" y="0"/>
                </a:moveTo>
                <a:lnTo>
                  <a:pt x="346366" y="0"/>
                </a:lnTo>
                <a:lnTo>
                  <a:pt x="346366" y="346366"/>
                </a:lnTo>
                <a:lnTo>
                  <a:pt x="0" y="3463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2116078" y="5258879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889000" y="1031011"/>
            <a:ext cx="4316765" cy="4316765"/>
          </a:xfrm>
          <a:custGeom>
            <a:avLst/>
            <a:gdLst/>
            <a:ahLst/>
            <a:cxnLst/>
            <a:rect l="l" t="t" r="r" b="b"/>
            <a:pathLst>
              <a:path w="4316765" h="4316765">
                <a:moveTo>
                  <a:pt x="0" y="0"/>
                </a:moveTo>
                <a:lnTo>
                  <a:pt x="4316765" y="0"/>
                </a:lnTo>
                <a:lnTo>
                  <a:pt x="4316765" y="4316765"/>
                </a:lnTo>
                <a:lnTo>
                  <a:pt x="0" y="43167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3716825" y="1097956"/>
            <a:ext cx="3542475" cy="8160344"/>
            <a:chOff x="0" y="0"/>
            <a:chExt cx="4723299" cy="10880458"/>
          </a:xfrm>
        </p:grpSpPr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7"/>
            <a:srcRect l="28294" r="28294"/>
            <a:stretch>
              <a:fillRect/>
            </a:stretch>
          </p:blipFill>
          <p:spPr>
            <a:xfrm>
              <a:off x="0" y="0"/>
              <a:ext cx="4723299" cy="10880458"/>
            </a:xfrm>
            <a:prstGeom prst="rect">
              <a:avLst/>
            </a:prstGeom>
          </p:spPr>
        </p:pic>
      </p:grpSp>
      <p:sp>
        <p:nvSpPr>
          <p:cNvPr id="14" name="Freeform 14"/>
          <p:cNvSpPr/>
          <p:nvPr/>
        </p:nvSpPr>
        <p:spPr>
          <a:xfrm>
            <a:off x="1817989" y="1821880"/>
            <a:ext cx="1242423" cy="1242423"/>
          </a:xfrm>
          <a:custGeom>
            <a:avLst/>
            <a:gdLst/>
            <a:ahLst/>
            <a:cxnLst/>
            <a:rect l="l" t="t" r="r" b="b"/>
            <a:pathLst>
              <a:path w="1242423" h="1242423">
                <a:moveTo>
                  <a:pt x="0" y="0"/>
                </a:moveTo>
                <a:lnTo>
                  <a:pt x="1242422" y="0"/>
                </a:lnTo>
                <a:lnTo>
                  <a:pt x="1242422" y="1242423"/>
                </a:lnTo>
                <a:lnTo>
                  <a:pt x="0" y="12424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6321842" y="405840"/>
            <a:ext cx="9784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766046" y="405840"/>
            <a:ext cx="1060497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535289" y="405840"/>
            <a:ext cx="735456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279530" y="405840"/>
            <a:ext cx="8097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499918" y="9638067"/>
            <a:ext cx="547464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07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817989" y="1028700"/>
            <a:ext cx="5328489" cy="1133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27"/>
              </a:lnSpc>
            </a:pPr>
            <a:r>
              <a:rPr lang="en-US" sz="7399">
                <a:solidFill>
                  <a:srgbClr val="1F2020"/>
                </a:solidFill>
                <a:latin typeface="Anton"/>
                <a:ea typeface="Anton"/>
                <a:cs typeface="Anton"/>
                <a:sym typeface="Anton"/>
              </a:rPr>
              <a:t>EXAMPLE OF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248022" y="1066800"/>
            <a:ext cx="5328489" cy="1133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27"/>
              </a:lnSpc>
            </a:pPr>
            <a:r>
              <a:rPr lang="en-US" sz="7399">
                <a:solidFill>
                  <a:srgbClr val="7402C6"/>
                </a:solidFill>
                <a:latin typeface="Anton"/>
                <a:ea typeface="Anton"/>
                <a:cs typeface="Anton"/>
                <a:sym typeface="Anton"/>
              </a:rPr>
              <a:t>OBJECT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98993" y="2366891"/>
            <a:ext cx="13017833" cy="7343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46"/>
              </a:lnSpc>
            </a:pPr>
            <a:r>
              <a:rPr lang="en-US" sz="4175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let students = { </a:t>
            </a:r>
          </a:p>
          <a:p>
            <a:pPr algn="l">
              <a:lnSpc>
                <a:spcPts val="5846"/>
              </a:lnSpc>
            </a:pPr>
            <a:r>
              <a:rPr lang="en-US" sz="4175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             surname: "Smith", </a:t>
            </a:r>
          </a:p>
          <a:p>
            <a:pPr algn="l">
              <a:lnSpc>
                <a:spcPts val="5846"/>
              </a:lnSpc>
            </a:pPr>
            <a:r>
              <a:rPr lang="en-US" sz="4175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             firstname: "John", </a:t>
            </a:r>
          </a:p>
          <a:p>
            <a:pPr algn="l">
              <a:lnSpc>
                <a:spcPts val="5846"/>
              </a:lnSpc>
            </a:pPr>
            <a:r>
              <a:rPr lang="en-US" sz="4175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             age: 16, </a:t>
            </a:r>
          </a:p>
          <a:p>
            <a:pPr algn="l">
              <a:lnSpc>
                <a:spcPts val="5846"/>
              </a:lnSpc>
            </a:pPr>
            <a:r>
              <a:rPr lang="en-US" sz="4175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            class: "SS2", </a:t>
            </a:r>
          </a:p>
          <a:p>
            <a:pPr algn="l">
              <a:lnSpc>
                <a:spcPts val="5846"/>
              </a:lnSpc>
            </a:pPr>
            <a:r>
              <a:rPr lang="en-US" sz="4175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           displayFullName: function() { </a:t>
            </a:r>
          </a:p>
          <a:p>
            <a:pPr algn="l">
              <a:lnSpc>
                <a:spcPts val="5846"/>
              </a:lnSpc>
            </a:pPr>
            <a:r>
              <a:rPr lang="en-US" sz="4175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return this.firstname + " " + this.surname;          </a:t>
            </a:r>
          </a:p>
          <a:p>
            <a:pPr algn="l">
              <a:lnSpc>
                <a:spcPts val="5846"/>
              </a:lnSpc>
            </a:pPr>
            <a:r>
              <a:rPr lang="en-US" sz="4175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             } </a:t>
            </a:r>
          </a:p>
          <a:p>
            <a:pPr algn="l">
              <a:lnSpc>
                <a:spcPts val="5846"/>
              </a:lnSpc>
              <a:spcBef>
                <a:spcPct val="0"/>
              </a:spcBef>
            </a:pPr>
            <a:r>
              <a:rPr lang="en-US" sz="4175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}; // Example console.log(students.displayFullName()); //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83051" y="370242"/>
            <a:ext cx="3688852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b="1">
                <a:solidFill>
                  <a:srgbClr val="7402C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DEEPER LIFE HIGH SCHOOL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028700" cy="1028700"/>
            <a:chOff x="0" y="0"/>
            <a:chExt cx="27093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E300FF">
                    <a:alpha val="100000"/>
                  </a:srgbClr>
                </a:gs>
                <a:gs pos="100000">
                  <a:srgbClr val="00068A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29707" y="332729"/>
            <a:ext cx="369285" cy="363243"/>
          </a:xfrm>
          <a:custGeom>
            <a:avLst/>
            <a:gdLst/>
            <a:ahLst/>
            <a:cxnLst/>
            <a:rect l="l" t="t" r="r" b="b"/>
            <a:pathLst>
              <a:path w="369285" h="363243">
                <a:moveTo>
                  <a:pt x="0" y="0"/>
                </a:moveTo>
                <a:lnTo>
                  <a:pt x="369286" y="0"/>
                </a:lnTo>
                <a:lnTo>
                  <a:pt x="369286" y="363242"/>
                </a:lnTo>
                <a:lnTo>
                  <a:pt x="0" y="363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6321842" y="405840"/>
            <a:ext cx="9784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766046" y="405840"/>
            <a:ext cx="1060497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535289" y="405840"/>
            <a:ext cx="735456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279530" y="405840"/>
            <a:ext cx="8097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E300FF">
                    <a:alpha val="100000"/>
                  </a:srgbClr>
                </a:gs>
                <a:gs pos="100000">
                  <a:srgbClr val="00068A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7499918" y="9638067"/>
            <a:ext cx="547464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08</a:t>
            </a:r>
          </a:p>
        </p:txBody>
      </p:sp>
      <p:sp>
        <p:nvSpPr>
          <p:cNvPr id="14" name="Freeform 14"/>
          <p:cNvSpPr/>
          <p:nvPr/>
        </p:nvSpPr>
        <p:spPr>
          <a:xfrm>
            <a:off x="17480868" y="368655"/>
            <a:ext cx="346366" cy="346366"/>
          </a:xfrm>
          <a:custGeom>
            <a:avLst/>
            <a:gdLst/>
            <a:ahLst/>
            <a:cxnLst/>
            <a:rect l="l" t="t" r="r" b="b"/>
            <a:pathLst>
              <a:path w="346366" h="346366">
                <a:moveTo>
                  <a:pt x="0" y="0"/>
                </a:moveTo>
                <a:lnTo>
                  <a:pt x="346366" y="0"/>
                </a:lnTo>
                <a:lnTo>
                  <a:pt x="346366" y="346366"/>
                </a:lnTo>
                <a:lnTo>
                  <a:pt x="0" y="3463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2116078" y="5258879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5889000" y="1031011"/>
            <a:ext cx="4316765" cy="4316765"/>
          </a:xfrm>
          <a:custGeom>
            <a:avLst/>
            <a:gdLst/>
            <a:ahLst/>
            <a:cxnLst/>
            <a:rect l="l" t="t" r="r" b="b"/>
            <a:pathLst>
              <a:path w="4316765" h="4316765">
                <a:moveTo>
                  <a:pt x="0" y="0"/>
                </a:moveTo>
                <a:lnTo>
                  <a:pt x="4316765" y="0"/>
                </a:lnTo>
                <a:lnTo>
                  <a:pt x="4316765" y="4316765"/>
                </a:lnTo>
                <a:lnTo>
                  <a:pt x="0" y="43167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-24050" y="6614601"/>
            <a:ext cx="4045544" cy="3672399"/>
            <a:chOff x="0" y="0"/>
            <a:chExt cx="5394058" cy="4896532"/>
          </a:xfrm>
        </p:grpSpPr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7"/>
            <a:srcRect l="33333" t="4611" b="4611"/>
            <a:stretch>
              <a:fillRect/>
            </a:stretch>
          </p:blipFill>
          <p:spPr>
            <a:xfrm>
              <a:off x="0" y="0"/>
              <a:ext cx="5394058" cy="4896532"/>
            </a:xfrm>
            <a:prstGeom prst="rect">
              <a:avLst/>
            </a:prstGeom>
          </p:spPr>
        </p:pic>
      </p:grpSp>
      <p:grpSp>
        <p:nvGrpSpPr>
          <p:cNvPr id="19" name="Group 19"/>
          <p:cNvGrpSpPr/>
          <p:nvPr/>
        </p:nvGrpSpPr>
        <p:grpSpPr>
          <a:xfrm>
            <a:off x="4317544" y="6614601"/>
            <a:ext cx="4045544" cy="3672399"/>
            <a:chOff x="0" y="0"/>
            <a:chExt cx="5394058" cy="4896532"/>
          </a:xfrm>
        </p:grpSpPr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8"/>
            <a:srcRect l="10774" r="15784"/>
            <a:stretch>
              <a:fillRect/>
            </a:stretch>
          </p:blipFill>
          <p:spPr>
            <a:xfrm>
              <a:off x="0" y="0"/>
              <a:ext cx="5394058" cy="4896532"/>
            </a:xfrm>
            <a:prstGeom prst="rect">
              <a:avLst/>
            </a:prstGeom>
          </p:spPr>
        </p:pic>
      </p:grpSp>
      <p:grpSp>
        <p:nvGrpSpPr>
          <p:cNvPr id="21" name="Group 21"/>
          <p:cNvGrpSpPr/>
          <p:nvPr/>
        </p:nvGrpSpPr>
        <p:grpSpPr>
          <a:xfrm>
            <a:off x="8659138" y="6614601"/>
            <a:ext cx="8600162" cy="3672399"/>
            <a:chOff x="0" y="0"/>
            <a:chExt cx="11466883" cy="4896532"/>
          </a:xfrm>
        </p:grpSpPr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9"/>
            <a:srcRect l="21572" t="5907" b="43826"/>
            <a:stretch>
              <a:fillRect/>
            </a:stretch>
          </p:blipFill>
          <p:spPr>
            <a:xfrm>
              <a:off x="0" y="0"/>
              <a:ext cx="11466883" cy="4896532"/>
            </a:xfrm>
            <a:prstGeom prst="rect">
              <a:avLst/>
            </a:prstGeom>
          </p:spPr>
        </p:pic>
      </p:grpSp>
      <p:sp>
        <p:nvSpPr>
          <p:cNvPr id="23" name="Freeform 23"/>
          <p:cNvSpPr/>
          <p:nvPr/>
        </p:nvSpPr>
        <p:spPr>
          <a:xfrm>
            <a:off x="987227" y="1318284"/>
            <a:ext cx="1242423" cy="1242423"/>
          </a:xfrm>
          <a:custGeom>
            <a:avLst/>
            <a:gdLst/>
            <a:ahLst/>
            <a:cxnLst/>
            <a:rect l="l" t="t" r="r" b="b"/>
            <a:pathLst>
              <a:path w="1242423" h="1242423">
                <a:moveTo>
                  <a:pt x="0" y="0"/>
                </a:moveTo>
                <a:lnTo>
                  <a:pt x="1242423" y="0"/>
                </a:lnTo>
                <a:lnTo>
                  <a:pt x="1242423" y="1242422"/>
                </a:lnTo>
                <a:lnTo>
                  <a:pt x="0" y="12424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283051" y="370242"/>
            <a:ext cx="3688852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b="1">
                <a:solidFill>
                  <a:srgbClr val="7402C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DEEPER LIFE HIGH SCHOOL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817989" y="1028700"/>
            <a:ext cx="5328489" cy="1133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27"/>
              </a:lnSpc>
            </a:pPr>
            <a:r>
              <a:rPr lang="en-US" sz="7399">
                <a:solidFill>
                  <a:srgbClr val="1F2020"/>
                </a:solidFill>
                <a:latin typeface="Anton"/>
                <a:ea typeface="Anton"/>
                <a:cs typeface="Anton"/>
                <a:sym typeface="Anton"/>
              </a:rPr>
              <a:t>ACCESSING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803200" y="1057275"/>
            <a:ext cx="5328489" cy="1133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27"/>
              </a:lnSpc>
            </a:pPr>
            <a:r>
              <a:rPr lang="en-US" sz="7399">
                <a:solidFill>
                  <a:srgbClr val="7402C6"/>
                </a:solidFill>
                <a:latin typeface="Anton"/>
                <a:ea typeface="Anton"/>
                <a:cs typeface="Anton"/>
                <a:sym typeface="Anton"/>
              </a:rPr>
              <a:t>OBJECT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608439" y="2775404"/>
            <a:ext cx="7111765" cy="2997834"/>
            <a:chOff x="0" y="0"/>
            <a:chExt cx="9482353" cy="3997112"/>
          </a:xfrm>
        </p:grpSpPr>
        <p:sp>
          <p:nvSpPr>
            <p:cNvPr id="28" name="TextBox 28"/>
            <p:cNvSpPr txBox="1"/>
            <p:nvPr/>
          </p:nvSpPr>
          <p:spPr>
            <a:xfrm>
              <a:off x="664445" y="2025012"/>
              <a:ext cx="8817909" cy="19721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19"/>
                </a:lnSpc>
              </a:pPr>
              <a:r>
                <a:rPr lang="en-US" sz="4299">
                  <a:solidFill>
                    <a:srgbClr val="1F2020"/>
                  </a:solidFill>
                  <a:latin typeface="Open Sans"/>
                  <a:ea typeface="Open Sans"/>
                  <a:cs typeface="Open Sans"/>
                  <a:sym typeface="Open Sans"/>
                </a:rPr>
                <a:t>console.log(car.brand); </a:t>
              </a:r>
            </a:p>
            <a:p>
              <a:pPr algn="l">
                <a:lnSpc>
                  <a:spcPts val="6019"/>
                </a:lnSpc>
                <a:spcBef>
                  <a:spcPct val="0"/>
                </a:spcBef>
              </a:pPr>
              <a:r>
                <a:rPr lang="en-US" sz="4299">
                  <a:solidFill>
                    <a:srgbClr val="1F2020"/>
                  </a:solidFill>
                  <a:latin typeface="Open Sans"/>
                  <a:ea typeface="Open Sans"/>
                  <a:cs typeface="Open Sans"/>
                  <a:sym typeface="Open Sans"/>
                </a:rPr>
                <a:t>// Output: "Toyota"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048312" y="197991"/>
              <a:ext cx="6217688" cy="9781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159"/>
                </a:lnSpc>
                <a:spcBef>
                  <a:spcPct val="0"/>
                </a:spcBef>
              </a:pPr>
              <a:r>
                <a:rPr lang="en-US" sz="4399" b="1">
                  <a:solidFill>
                    <a:srgbClr val="E300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Dot Notation: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0" y="0"/>
              <a:ext cx="1648223" cy="1415795"/>
              <a:chOff x="0" y="0"/>
              <a:chExt cx="207807" cy="178502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207807" cy="178502"/>
              </a:xfrm>
              <a:custGeom>
                <a:avLst/>
                <a:gdLst/>
                <a:ahLst/>
                <a:cxnLst/>
                <a:rect l="l" t="t" r="r" b="b"/>
                <a:pathLst>
                  <a:path w="207807" h="178502">
                    <a:moveTo>
                      <a:pt x="0" y="0"/>
                    </a:moveTo>
                    <a:lnTo>
                      <a:pt x="207807" y="0"/>
                    </a:lnTo>
                    <a:lnTo>
                      <a:pt x="207807" y="178502"/>
                    </a:lnTo>
                    <a:lnTo>
                      <a:pt x="0" y="17850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300FF">
                      <a:alpha val="100000"/>
                    </a:srgbClr>
                  </a:gs>
                  <a:gs pos="100000">
                    <a:srgbClr val="00068A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38100"/>
                <a:ext cx="207807" cy="2166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220866" y="215689"/>
              <a:ext cx="1206492" cy="8923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68"/>
                </a:lnSpc>
                <a:spcBef>
                  <a:spcPct val="0"/>
                </a:spcBef>
              </a:pPr>
              <a:r>
                <a:rPr lang="en-US" sz="412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0403116" y="4155057"/>
            <a:ext cx="6613432" cy="1500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19"/>
              </a:lnSpc>
              <a:spcBef>
                <a:spcPct val="0"/>
              </a:spcBef>
            </a:pPr>
            <a:r>
              <a:rPr lang="en-US" sz="42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console.log(car["model"]); // Output: "Camry"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235542" y="2784791"/>
            <a:ext cx="5086301" cy="755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9"/>
              </a:lnSpc>
              <a:spcBef>
                <a:spcPct val="0"/>
              </a:spcBef>
            </a:pPr>
            <a:r>
              <a:rPr lang="en-US" sz="4399" b="1">
                <a:solidFill>
                  <a:srgbClr val="E300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Bracket Notation: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9699307" y="2657729"/>
            <a:ext cx="1236167" cy="1061846"/>
            <a:chOff x="0" y="0"/>
            <a:chExt cx="207807" cy="17850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07807" cy="178502"/>
            </a:xfrm>
            <a:custGeom>
              <a:avLst/>
              <a:gdLst/>
              <a:ahLst/>
              <a:cxnLst/>
              <a:rect l="l" t="t" r="r" b="b"/>
              <a:pathLst>
                <a:path w="207807" h="178502">
                  <a:moveTo>
                    <a:pt x="0" y="0"/>
                  </a:moveTo>
                  <a:lnTo>
                    <a:pt x="207807" y="0"/>
                  </a:lnTo>
                  <a:lnTo>
                    <a:pt x="207807" y="178502"/>
                  </a:lnTo>
                  <a:lnTo>
                    <a:pt x="0" y="178502"/>
                  </a:lnTo>
                  <a:close/>
                </a:path>
              </a:pathLst>
            </a:custGeom>
            <a:gradFill rotWithShape="1">
              <a:gsLst>
                <a:gs pos="0">
                  <a:srgbClr val="E300FF">
                    <a:alpha val="100000"/>
                  </a:srgbClr>
                </a:gs>
                <a:gs pos="100000">
                  <a:srgbClr val="00068A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207807" cy="2166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9864957" y="2802827"/>
            <a:ext cx="904869" cy="685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8"/>
              </a:lnSpc>
              <a:spcBef>
                <a:spcPct val="0"/>
              </a:spcBef>
            </a:pPr>
            <a:r>
              <a:rPr lang="en-US" sz="412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028700" cy="1028700"/>
            <a:chOff x="0" y="0"/>
            <a:chExt cx="27093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E300FF">
                    <a:alpha val="100000"/>
                  </a:srgbClr>
                </a:gs>
                <a:gs pos="100000">
                  <a:srgbClr val="00068A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29707" y="332729"/>
            <a:ext cx="369285" cy="363243"/>
          </a:xfrm>
          <a:custGeom>
            <a:avLst/>
            <a:gdLst/>
            <a:ahLst/>
            <a:cxnLst/>
            <a:rect l="l" t="t" r="r" b="b"/>
            <a:pathLst>
              <a:path w="369285" h="363243">
                <a:moveTo>
                  <a:pt x="0" y="0"/>
                </a:moveTo>
                <a:lnTo>
                  <a:pt x="369286" y="0"/>
                </a:lnTo>
                <a:lnTo>
                  <a:pt x="369286" y="363242"/>
                </a:lnTo>
                <a:lnTo>
                  <a:pt x="0" y="363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6321842" y="405840"/>
            <a:ext cx="9784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766046" y="405840"/>
            <a:ext cx="1060497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535289" y="405840"/>
            <a:ext cx="735456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279530" y="405840"/>
            <a:ext cx="8097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E300FF">
                    <a:alpha val="100000"/>
                  </a:srgbClr>
                </a:gs>
                <a:gs pos="100000">
                  <a:srgbClr val="00068A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7499918" y="9638067"/>
            <a:ext cx="547464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08</a:t>
            </a:r>
          </a:p>
        </p:txBody>
      </p:sp>
      <p:sp>
        <p:nvSpPr>
          <p:cNvPr id="14" name="Freeform 14"/>
          <p:cNvSpPr/>
          <p:nvPr/>
        </p:nvSpPr>
        <p:spPr>
          <a:xfrm>
            <a:off x="17480868" y="368655"/>
            <a:ext cx="346366" cy="346366"/>
          </a:xfrm>
          <a:custGeom>
            <a:avLst/>
            <a:gdLst/>
            <a:ahLst/>
            <a:cxnLst/>
            <a:rect l="l" t="t" r="r" b="b"/>
            <a:pathLst>
              <a:path w="346366" h="346366">
                <a:moveTo>
                  <a:pt x="0" y="0"/>
                </a:moveTo>
                <a:lnTo>
                  <a:pt x="346366" y="0"/>
                </a:lnTo>
                <a:lnTo>
                  <a:pt x="346366" y="346366"/>
                </a:lnTo>
                <a:lnTo>
                  <a:pt x="0" y="3463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2116078" y="5258879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5889000" y="1031011"/>
            <a:ext cx="4316765" cy="4316765"/>
          </a:xfrm>
          <a:custGeom>
            <a:avLst/>
            <a:gdLst/>
            <a:ahLst/>
            <a:cxnLst/>
            <a:rect l="l" t="t" r="r" b="b"/>
            <a:pathLst>
              <a:path w="4316765" h="4316765">
                <a:moveTo>
                  <a:pt x="0" y="0"/>
                </a:moveTo>
                <a:lnTo>
                  <a:pt x="4316765" y="0"/>
                </a:lnTo>
                <a:lnTo>
                  <a:pt x="4316765" y="4316765"/>
                </a:lnTo>
                <a:lnTo>
                  <a:pt x="0" y="43167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-24050" y="6614601"/>
            <a:ext cx="4045544" cy="3672399"/>
            <a:chOff x="0" y="0"/>
            <a:chExt cx="5394058" cy="4896532"/>
          </a:xfrm>
        </p:grpSpPr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7"/>
            <a:srcRect l="13302" r="13302"/>
            <a:stretch>
              <a:fillRect/>
            </a:stretch>
          </p:blipFill>
          <p:spPr>
            <a:xfrm>
              <a:off x="0" y="0"/>
              <a:ext cx="5394058" cy="4896532"/>
            </a:xfrm>
            <a:prstGeom prst="rect">
              <a:avLst/>
            </a:prstGeom>
          </p:spPr>
        </p:pic>
      </p:grpSp>
      <p:grpSp>
        <p:nvGrpSpPr>
          <p:cNvPr id="19" name="Group 19"/>
          <p:cNvGrpSpPr/>
          <p:nvPr/>
        </p:nvGrpSpPr>
        <p:grpSpPr>
          <a:xfrm>
            <a:off x="4317544" y="6614601"/>
            <a:ext cx="4045544" cy="3672399"/>
            <a:chOff x="0" y="0"/>
            <a:chExt cx="5394058" cy="4896532"/>
          </a:xfrm>
        </p:grpSpPr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8"/>
            <a:srcRect l="19017" r="19017"/>
            <a:stretch>
              <a:fillRect/>
            </a:stretch>
          </p:blipFill>
          <p:spPr>
            <a:xfrm>
              <a:off x="0" y="0"/>
              <a:ext cx="5394058" cy="4896532"/>
            </a:xfrm>
            <a:prstGeom prst="rect">
              <a:avLst/>
            </a:prstGeom>
          </p:spPr>
        </p:pic>
      </p:grpSp>
      <p:grpSp>
        <p:nvGrpSpPr>
          <p:cNvPr id="21" name="Group 21"/>
          <p:cNvGrpSpPr/>
          <p:nvPr/>
        </p:nvGrpSpPr>
        <p:grpSpPr>
          <a:xfrm>
            <a:off x="8659138" y="6614601"/>
            <a:ext cx="8600162" cy="3672399"/>
            <a:chOff x="0" y="0"/>
            <a:chExt cx="11466883" cy="4896532"/>
          </a:xfrm>
        </p:grpSpPr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9"/>
            <a:srcRect t="17953" b="17953"/>
            <a:stretch>
              <a:fillRect/>
            </a:stretch>
          </p:blipFill>
          <p:spPr>
            <a:xfrm>
              <a:off x="0" y="0"/>
              <a:ext cx="11466883" cy="4896532"/>
            </a:xfrm>
            <a:prstGeom prst="rect">
              <a:avLst/>
            </a:prstGeom>
          </p:spPr>
        </p:pic>
      </p:grpSp>
      <p:sp>
        <p:nvSpPr>
          <p:cNvPr id="23" name="Freeform 23"/>
          <p:cNvSpPr/>
          <p:nvPr/>
        </p:nvSpPr>
        <p:spPr>
          <a:xfrm>
            <a:off x="2063552" y="1318284"/>
            <a:ext cx="1242423" cy="1242423"/>
          </a:xfrm>
          <a:custGeom>
            <a:avLst/>
            <a:gdLst/>
            <a:ahLst/>
            <a:cxnLst/>
            <a:rect l="l" t="t" r="r" b="b"/>
            <a:pathLst>
              <a:path w="1242423" h="1242423">
                <a:moveTo>
                  <a:pt x="0" y="0"/>
                </a:moveTo>
                <a:lnTo>
                  <a:pt x="1242423" y="0"/>
                </a:lnTo>
                <a:lnTo>
                  <a:pt x="1242423" y="1242422"/>
                </a:lnTo>
                <a:lnTo>
                  <a:pt x="0" y="12424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283051" y="370242"/>
            <a:ext cx="3688852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b="1">
                <a:solidFill>
                  <a:srgbClr val="7402C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DEEPER LIFE HIGH SCHOOL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817989" y="1028700"/>
            <a:ext cx="6545099" cy="1133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27"/>
              </a:lnSpc>
            </a:pPr>
            <a:r>
              <a:rPr lang="en-US" sz="7399">
                <a:solidFill>
                  <a:srgbClr val="1F2020"/>
                </a:solidFill>
                <a:latin typeface="Anton"/>
                <a:ea typeface="Anton"/>
                <a:cs typeface="Anton"/>
                <a:sym typeface="Anton"/>
              </a:rPr>
              <a:t>Adding, Updating,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507738" y="1019175"/>
            <a:ext cx="8887815" cy="1133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27"/>
              </a:lnSpc>
            </a:pPr>
            <a:r>
              <a:rPr lang="en-US" sz="7399">
                <a:solidFill>
                  <a:srgbClr val="7402C6"/>
                </a:solidFill>
                <a:latin typeface="Anton"/>
                <a:ea typeface="Anton"/>
                <a:cs typeface="Anton"/>
                <a:sym typeface="Anton"/>
              </a:rPr>
              <a:t>and Deleting Properties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571625" y="4020597"/>
            <a:ext cx="5467374" cy="2095806"/>
            <a:chOff x="0" y="0"/>
            <a:chExt cx="7289832" cy="2794408"/>
          </a:xfrm>
        </p:grpSpPr>
        <p:sp>
          <p:nvSpPr>
            <p:cNvPr id="28" name="TextBox 28"/>
            <p:cNvSpPr txBox="1"/>
            <p:nvPr/>
          </p:nvSpPr>
          <p:spPr>
            <a:xfrm>
              <a:off x="25400" y="1838307"/>
              <a:ext cx="6126984" cy="9561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19"/>
                </a:lnSpc>
                <a:spcBef>
                  <a:spcPct val="0"/>
                </a:spcBef>
              </a:pPr>
              <a:r>
                <a:rPr lang="en-US" sz="4299">
                  <a:solidFill>
                    <a:srgbClr val="1F2020"/>
                  </a:solidFill>
                  <a:latin typeface="Open Sans"/>
                  <a:ea typeface="Open Sans"/>
                  <a:cs typeface="Open Sans"/>
                  <a:sym typeface="Open Sans"/>
                </a:rPr>
                <a:t>car.color = "Red";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763585" y="76200"/>
              <a:ext cx="5526247" cy="12395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99"/>
                </a:lnSpc>
              </a:pPr>
              <a:r>
                <a:rPr lang="en-US" sz="3599" b="1">
                  <a:solidFill>
                    <a:srgbClr val="E300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Add a new property: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0" y="237"/>
              <a:ext cx="1464931" cy="1415795"/>
              <a:chOff x="0" y="0"/>
              <a:chExt cx="184697" cy="178502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84697" cy="178502"/>
              </a:xfrm>
              <a:custGeom>
                <a:avLst/>
                <a:gdLst/>
                <a:ahLst/>
                <a:cxnLst/>
                <a:rect l="l" t="t" r="r" b="b"/>
                <a:pathLst>
                  <a:path w="184697" h="178502">
                    <a:moveTo>
                      <a:pt x="0" y="0"/>
                    </a:moveTo>
                    <a:lnTo>
                      <a:pt x="184697" y="0"/>
                    </a:lnTo>
                    <a:lnTo>
                      <a:pt x="184697" y="178502"/>
                    </a:lnTo>
                    <a:lnTo>
                      <a:pt x="0" y="17850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E300FF">
                      <a:alpha val="100000"/>
                    </a:srgbClr>
                  </a:gs>
                  <a:gs pos="100000">
                    <a:srgbClr val="00068A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38100"/>
                <a:ext cx="184697" cy="2166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196304" y="215926"/>
              <a:ext cx="1072323" cy="8923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768"/>
                </a:lnSpc>
                <a:spcBef>
                  <a:spcPct val="0"/>
                </a:spcBef>
              </a:pPr>
              <a:r>
                <a:rPr lang="en-US" sz="412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6758487" y="4011072"/>
            <a:ext cx="4595238" cy="738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19"/>
              </a:lnSpc>
              <a:spcBef>
                <a:spcPct val="0"/>
              </a:spcBef>
            </a:pPr>
            <a:r>
              <a:rPr lang="en-US" sz="42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car.year = 2023;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064929" y="2768949"/>
            <a:ext cx="4144685" cy="88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3499" b="1">
                <a:solidFill>
                  <a:srgbClr val="E300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Update an existing property: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748962" y="2653951"/>
            <a:ext cx="1098699" cy="1061846"/>
            <a:chOff x="0" y="0"/>
            <a:chExt cx="184697" cy="17850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84697" cy="178502"/>
            </a:xfrm>
            <a:custGeom>
              <a:avLst/>
              <a:gdLst/>
              <a:ahLst/>
              <a:cxnLst/>
              <a:rect l="l" t="t" r="r" b="b"/>
              <a:pathLst>
                <a:path w="184697" h="178502">
                  <a:moveTo>
                    <a:pt x="0" y="0"/>
                  </a:moveTo>
                  <a:lnTo>
                    <a:pt x="184697" y="0"/>
                  </a:lnTo>
                  <a:lnTo>
                    <a:pt x="184697" y="178502"/>
                  </a:lnTo>
                  <a:lnTo>
                    <a:pt x="0" y="178502"/>
                  </a:lnTo>
                  <a:close/>
                </a:path>
              </a:pathLst>
            </a:custGeom>
            <a:gradFill rotWithShape="1">
              <a:gsLst>
                <a:gs pos="0">
                  <a:srgbClr val="E300FF">
                    <a:alpha val="100000"/>
                  </a:srgbClr>
                </a:gs>
                <a:gs pos="100000">
                  <a:srgbClr val="00068A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184697" cy="2166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6896190" y="2799048"/>
            <a:ext cx="804242" cy="685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8"/>
              </a:lnSpc>
              <a:spcBef>
                <a:spcPct val="0"/>
              </a:spcBef>
            </a:pPr>
            <a:r>
              <a:rPr lang="en-US" sz="412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3089290" y="5377896"/>
            <a:ext cx="4595238" cy="738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19"/>
              </a:lnSpc>
              <a:spcBef>
                <a:spcPct val="0"/>
              </a:spcBef>
            </a:pPr>
            <a:r>
              <a:rPr lang="en-US" sz="42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delete car.model;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4412508" y="4124979"/>
            <a:ext cx="3241543" cy="910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3599" b="1">
                <a:solidFill>
                  <a:srgbClr val="E300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Delete a property: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13087330" y="4020775"/>
            <a:ext cx="1098699" cy="1061846"/>
            <a:chOff x="0" y="0"/>
            <a:chExt cx="184697" cy="17850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84697" cy="178502"/>
            </a:xfrm>
            <a:custGeom>
              <a:avLst/>
              <a:gdLst/>
              <a:ahLst/>
              <a:cxnLst/>
              <a:rect l="l" t="t" r="r" b="b"/>
              <a:pathLst>
                <a:path w="184697" h="178502">
                  <a:moveTo>
                    <a:pt x="0" y="0"/>
                  </a:moveTo>
                  <a:lnTo>
                    <a:pt x="184697" y="0"/>
                  </a:lnTo>
                  <a:lnTo>
                    <a:pt x="184697" y="178502"/>
                  </a:lnTo>
                  <a:lnTo>
                    <a:pt x="0" y="178502"/>
                  </a:lnTo>
                  <a:close/>
                </a:path>
              </a:pathLst>
            </a:custGeom>
            <a:gradFill rotWithShape="1">
              <a:gsLst>
                <a:gs pos="0">
                  <a:srgbClr val="E300FF">
                    <a:alpha val="100000"/>
                  </a:srgbClr>
                </a:gs>
                <a:gs pos="100000">
                  <a:srgbClr val="00068A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184697" cy="2166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3234558" y="4165873"/>
            <a:ext cx="804242" cy="685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8"/>
              </a:lnSpc>
              <a:spcBef>
                <a:spcPct val="0"/>
              </a:spcBef>
            </a:pPr>
            <a:r>
              <a:rPr lang="en-US" sz="412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028700" cy="1028700"/>
            <a:chOff x="0" y="0"/>
            <a:chExt cx="27093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E300FF">
                    <a:alpha val="100000"/>
                  </a:srgbClr>
                </a:gs>
                <a:gs pos="100000">
                  <a:srgbClr val="00068A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29707" y="332729"/>
            <a:ext cx="369285" cy="363243"/>
          </a:xfrm>
          <a:custGeom>
            <a:avLst/>
            <a:gdLst/>
            <a:ahLst/>
            <a:cxnLst/>
            <a:rect l="l" t="t" r="r" b="b"/>
            <a:pathLst>
              <a:path w="369285" h="363243">
                <a:moveTo>
                  <a:pt x="0" y="0"/>
                </a:moveTo>
                <a:lnTo>
                  <a:pt x="369286" y="0"/>
                </a:lnTo>
                <a:lnTo>
                  <a:pt x="369286" y="363242"/>
                </a:lnTo>
                <a:lnTo>
                  <a:pt x="0" y="363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6321842" y="405840"/>
            <a:ext cx="9784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766046" y="405840"/>
            <a:ext cx="1060497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535289" y="405840"/>
            <a:ext cx="735456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279530" y="405840"/>
            <a:ext cx="8097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E300FF">
                    <a:alpha val="100000"/>
                  </a:srgbClr>
                </a:gs>
                <a:gs pos="100000">
                  <a:srgbClr val="00068A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09</a:t>
            </a:r>
          </a:p>
        </p:txBody>
      </p:sp>
      <p:sp>
        <p:nvSpPr>
          <p:cNvPr id="14" name="Freeform 14"/>
          <p:cNvSpPr/>
          <p:nvPr/>
        </p:nvSpPr>
        <p:spPr>
          <a:xfrm>
            <a:off x="17480868" y="368655"/>
            <a:ext cx="346366" cy="346366"/>
          </a:xfrm>
          <a:custGeom>
            <a:avLst/>
            <a:gdLst/>
            <a:ahLst/>
            <a:cxnLst/>
            <a:rect l="l" t="t" r="r" b="b"/>
            <a:pathLst>
              <a:path w="346366" h="346366">
                <a:moveTo>
                  <a:pt x="0" y="0"/>
                </a:moveTo>
                <a:lnTo>
                  <a:pt x="346366" y="0"/>
                </a:lnTo>
                <a:lnTo>
                  <a:pt x="346366" y="346366"/>
                </a:lnTo>
                <a:lnTo>
                  <a:pt x="0" y="3463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2116078" y="5258879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5889000" y="1031011"/>
            <a:ext cx="4316765" cy="4316765"/>
          </a:xfrm>
          <a:custGeom>
            <a:avLst/>
            <a:gdLst/>
            <a:ahLst/>
            <a:cxnLst/>
            <a:rect l="l" t="t" r="r" b="b"/>
            <a:pathLst>
              <a:path w="4316765" h="4316765">
                <a:moveTo>
                  <a:pt x="0" y="0"/>
                </a:moveTo>
                <a:lnTo>
                  <a:pt x="4316765" y="0"/>
                </a:lnTo>
                <a:lnTo>
                  <a:pt x="4316765" y="4316765"/>
                </a:lnTo>
                <a:lnTo>
                  <a:pt x="0" y="43167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12279530" y="1031011"/>
            <a:ext cx="6008470" cy="3494174"/>
            <a:chOff x="0" y="0"/>
            <a:chExt cx="1582478" cy="92027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582478" cy="920276"/>
            </a:xfrm>
            <a:custGeom>
              <a:avLst/>
              <a:gdLst/>
              <a:ahLst/>
              <a:cxnLst/>
              <a:rect l="l" t="t" r="r" b="b"/>
              <a:pathLst>
                <a:path w="1582478" h="920276">
                  <a:moveTo>
                    <a:pt x="0" y="0"/>
                  </a:moveTo>
                  <a:lnTo>
                    <a:pt x="1582478" y="0"/>
                  </a:lnTo>
                  <a:lnTo>
                    <a:pt x="1582478" y="920276"/>
                  </a:lnTo>
                  <a:lnTo>
                    <a:pt x="0" y="920276"/>
                  </a:lnTo>
                  <a:close/>
                </a:path>
              </a:pathLst>
            </a:custGeom>
            <a:gradFill rotWithShape="1">
              <a:gsLst>
                <a:gs pos="0">
                  <a:srgbClr val="E300FF">
                    <a:alpha val="100000"/>
                  </a:srgbClr>
                </a:gs>
                <a:gs pos="100000">
                  <a:srgbClr val="00068A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582478" cy="9583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9781635" y="3580598"/>
            <a:ext cx="7815266" cy="5935957"/>
          </a:xfrm>
          <a:custGeom>
            <a:avLst/>
            <a:gdLst/>
            <a:ahLst/>
            <a:cxnLst/>
            <a:rect l="l" t="t" r="r" b="b"/>
            <a:pathLst>
              <a:path w="7815266" h="5935957">
                <a:moveTo>
                  <a:pt x="0" y="0"/>
                </a:moveTo>
                <a:lnTo>
                  <a:pt x="7815266" y="0"/>
                </a:lnTo>
                <a:lnTo>
                  <a:pt x="7815266" y="5935956"/>
                </a:lnTo>
                <a:lnTo>
                  <a:pt x="0" y="59359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277" b="-277"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9963551" y="3765407"/>
            <a:ext cx="7439296" cy="3930238"/>
            <a:chOff x="0" y="0"/>
            <a:chExt cx="9919061" cy="5240318"/>
          </a:xfrm>
        </p:grpSpPr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8"/>
            <a:srcRect t="220" b="20484"/>
            <a:stretch>
              <a:fillRect/>
            </a:stretch>
          </p:blipFill>
          <p:spPr>
            <a:xfrm>
              <a:off x="0" y="0"/>
              <a:ext cx="9919061" cy="5240318"/>
            </a:xfrm>
            <a:prstGeom prst="rect">
              <a:avLst/>
            </a:prstGeom>
          </p:spPr>
        </p:pic>
      </p:grpSp>
      <p:sp>
        <p:nvSpPr>
          <p:cNvPr id="23" name="Freeform 23"/>
          <p:cNvSpPr/>
          <p:nvPr/>
        </p:nvSpPr>
        <p:spPr>
          <a:xfrm>
            <a:off x="1187252" y="715021"/>
            <a:ext cx="1242423" cy="1242423"/>
          </a:xfrm>
          <a:custGeom>
            <a:avLst/>
            <a:gdLst/>
            <a:ahLst/>
            <a:cxnLst/>
            <a:rect l="l" t="t" r="r" b="b"/>
            <a:pathLst>
              <a:path w="1242423" h="1242423">
                <a:moveTo>
                  <a:pt x="0" y="0"/>
                </a:moveTo>
                <a:lnTo>
                  <a:pt x="1242423" y="0"/>
                </a:lnTo>
                <a:lnTo>
                  <a:pt x="1242423" y="1242423"/>
                </a:lnTo>
                <a:lnTo>
                  <a:pt x="0" y="12424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817989" y="1028700"/>
            <a:ext cx="6366110" cy="1133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27"/>
              </a:lnSpc>
            </a:pPr>
            <a:r>
              <a:rPr lang="en-US" sz="7399">
                <a:solidFill>
                  <a:srgbClr val="1F2020"/>
                </a:solidFill>
                <a:latin typeface="Anton"/>
                <a:ea typeface="Anton"/>
                <a:cs typeface="Anton"/>
                <a:sym typeface="Anton"/>
              </a:rPr>
              <a:t>Looping Through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184098" y="1057275"/>
            <a:ext cx="4000182" cy="1133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27"/>
              </a:lnSpc>
            </a:pPr>
            <a:r>
              <a:rPr lang="en-US" sz="7399">
                <a:solidFill>
                  <a:srgbClr val="7402C6"/>
                </a:solidFill>
                <a:latin typeface="Anton"/>
                <a:ea typeface="Anton"/>
                <a:cs typeface="Anton"/>
                <a:sym typeface="Anton"/>
              </a:rPr>
              <a:t>an OBJECT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83051" y="370242"/>
            <a:ext cx="3688852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b="1">
                <a:solidFill>
                  <a:srgbClr val="7402C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DEEPER LIFE HIGH SCHOOL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87252" y="2843347"/>
            <a:ext cx="8067813" cy="5104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846"/>
              </a:lnSpc>
            </a:pPr>
            <a:r>
              <a:rPr lang="en-US" sz="4175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You can use a for...in loop to iterate through an object's properties.</a:t>
            </a:r>
          </a:p>
          <a:p>
            <a:pPr algn="just">
              <a:lnSpc>
                <a:spcPts val="5846"/>
              </a:lnSpc>
            </a:pPr>
            <a:endParaRPr lang="en-US" sz="4175">
              <a:solidFill>
                <a:srgbClr val="1F202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5846"/>
              </a:lnSpc>
            </a:pPr>
            <a:r>
              <a:rPr lang="en-US" sz="4175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for (let key in car) { </a:t>
            </a:r>
          </a:p>
          <a:p>
            <a:pPr algn="just">
              <a:lnSpc>
                <a:spcPts val="5846"/>
              </a:lnSpc>
            </a:pPr>
            <a:r>
              <a:rPr lang="en-US" sz="4175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console.log(`${key}: ${car[key]}`);</a:t>
            </a:r>
          </a:p>
          <a:p>
            <a:pPr algn="just">
              <a:lnSpc>
                <a:spcPts val="5846"/>
              </a:lnSpc>
              <a:spcBef>
                <a:spcPct val="0"/>
              </a:spcBef>
            </a:pPr>
            <a:r>
              <a:rPr lang="en-US" sz="4175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028700" cy="1028700"/>
            <a:chOff x="0" y="0"/>
            <a:chExt cx="27093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E300FF">
                    <a:alpha val="100000"/>
                  </a:srgbClr>
                </a:gs>
                <a:gs pos="100000">
                  <a:srgbClr val="00068A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29707" y="332729"/>
            <a:ext cx="369285" cy="363243"/>
          </a:xfrm>
          <a:custGeom>
            <a:avLst/>
            <a:gdLst/>
            <a:ahLst/>
            <a:cxnLst/>
            <a:rect l="l" t="t" r="r" b="b"/>
            <a:pathLst>
              <a:path w="369285" h="363243">
                <a:moveTo>
                  <a:pt x="0" y="0"/>
                </a:moveTo>
                <a:lnTo>
                  <a:pt x="369286" y="0"/>
                </a:lnTo>
                <a:lnTo>
                  <a:pt x="369286" y="363242"/>
                </a:lnTo>
                <a:lnTo>
                  <a:pt x="0" y="363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E300FF">
                    <a:alpha val="100000"/>
                  </a:srgbClr>
                </a:gs>
                <a:gs pos="100000">
                  <a:srgbClr val="00068A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7480868" y="368655"/>
            <a:ext cx="346366" cy="346366"/>
          </a:xfrm>
          <a:custGeom>
            <a:avLst/>
            <a:gdLst/>
            <a:ahLst/>
            <a:cxnLst/>
            <a:rect l="l" t="t" r="r" b="b"/>
            <a:pathLst>
              <a:path w="346366" h="346366">
                <a:moveTo>
                  <a:pt x="0" y="0"/>
                </a:moveTo>
                <a:lnTo>
                  <a:pt x="346366" y="0"/>
                </a:lnTo>
                <a:lnTo>
                  <a:pt x="346366" y="346366"/>
                </a:lnTo>
                <a:lnTo>
                  <a:pt x="0" y="3463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2116078" y="5258879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889000" y="1031011"/>
            <a:ext cx="4316765" cy="4316765"/>
          </a:xfrm>
          <a:custGeom>
            <a:avLst/>
            <a:gdLst/>
            <a:ahLst/>
            <a:cxnLst/>
            <a:rect l="l" t="t" r="r" b="b"/>
            <a:pathLst>
              <a:path w="4316765" h="4316765">
                <a:moveTo>
                  <a:pt x="0" y="0"/>
                </a:moveTo>
                <a:lnTo>
                  <a:pt x="4316765" y="0"/>
                </a:lnTo>
                <a:lnTo>
                  <a:pt x="4316765" y="4316765"/>
                </a:lnTo>
                <a:lnTo>
                  <a:pt x="0" y="43167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028700" y="1028700"/>
            <a:ext cx="9225231" cy="8229600"/>
            <a:chOff x="0" y="0"/>
            <a:chExt cx="12300307" cy="10972800"/>
          </a:xfrm>
        </p:grpSpPr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7"/>
            <a:srcRect l="15669" r="15669"/>
            <a:stretch>
              <a:fillRect/>
            </a:stretch>
          </p:blipFill>
          <p:spPr>
            <a:xfrm>
              <a:off x="0" y="0"/>
              <a:ext cx="12300307" cy="10972800"/>
            </a:xfrm>
            <a:prstGeom prst="rect">
              <a:avLst/>
            </a:prstGeom>
          </p:spPr>
        </p:pic>
      </p:grpSp>
      <p:sp>
        <p:nvSpPr>
          <p:cNvPr id="14" name="Freeform 14"/>
          <p:cNvSpPr/>
          <p:nvPr/>
        </p:nvSpPr>
        <p:spPr>
          <a:xfrm>
            <a:off x="10961188" y="1028700"/>
            <a:ext cx="7086194" cy="4215744"/>
          </a:xfrm>
          <a:custGeom>
            <a:avLst/>
            <a:gdLst/>
            <a:ahLst/>
            <a:cxnLst/>
            <a:rect l="l" t="t" r="r" b="b"/>
            <a:pathLst>
              <a:path w="7086194" h="4215744">
                <a:moveTo>
                  <a:pt x="0" y="0"/>
                </a:moveTo>
                <a:lnTo>
                  <a:pt x="7086194" y="0"/>
                </a:lnTo>
                <a:lnTo>
                  <a:pt x="7086194" y="4215744"/>
                </a:lnTo>
                <a:lnTo>
                  <a:pt x="0" y="42157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261" t="-11413" b="-3108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6321842" y="405840"/>
            <a:ext cx="9784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766046" y="405840"/>
            <a:ext cx="1060497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535289" y="405840"/>
            <a:ext cx="735456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279530" y="405840"/>
            <a:ext cx="8097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961188" y="5271576"/>
            <a:ext cx="6692863" cy="4013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2856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Objects are fundamental building blocks in JavaScript to store and manipulate data.</a:t>
            </a:r>
          </a:p>
          <a:p>
            <a:pPr algn="just">
              <a:lnSpc>
                <a:spcPts val="3999"/>
              </a:lnSpc>
            </a:pPr>
            <a:r>
              <a:rPr lang="en-US" sz="2856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They allow grouping of related properties and methods.</a:t>
            </a:r>
          </a:p>
          <a:p>
            <a:pPr algn="just">
              <a:lnSpc>
                <a:spcPts val="3999"/>
              </a:lnSpc>
            </a:pPr>
            <a:r>
              <a:rPr lang="en-US" sz="2856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Accessing and modifying properties is straightforward using dot or bracket notation.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83051" y="370242"/>
            <a:ext cx="3688852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b="1">
                <a:solidFill>
                  <a:srgbClr val="7402C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DEEPER LIFE HIGH SCHOOL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566</Words>
  <Application>Microsoft Macintosh PowerPoint</Application>
  <PresentationFormat>Custom</PresentationFormat>
  <Paragraphs>146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Anton</vt:lpstr>
      <vt:lpstr>Calibri</vt:lpstr>
      <vt:lpstr>Open Sans Bold</vt:lpstr>
      <vt:lpstr>Arial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2ND RAI BASIC 8 WEEK 2</dc:title>
  <cp:lastModifiedBy>John Luka</cp:lastModifiedBy>
  <cp:revision>1</cp:revision>
  <dcterms:created xsi:type="dcterms:W3CDTF">2006-08-16T00:00:00Z</dcterms:created>
  <dcterms:modified xsi:type="dcterms:W3CDTF">2026-01-21T10:47:41Z</dcterms:modified>
  <dc:identifier>DAGc0-Rcu5U</dc:identifier>
</cp:coreProperties>
</file>